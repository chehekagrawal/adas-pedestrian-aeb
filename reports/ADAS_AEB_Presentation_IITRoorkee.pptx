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10515600" cy="457200"/>
          </a:xfrm>
          <a:prstGeom prst="rect">
            <a:avLst/>
          </a:prstGeom>
          <a:noFill/>
        </p:spPr>
        <p:txBody>
          <a:bodyPr wrap="square">
            <a:spAutoFit/>
          </a:bodyPr>
          <a:lstStyle/>
          <a:p>
            <a:pPr algn="ctr"/>
            <a:r>
              <a:rPr sz="1800" b="0" i="0">
                <a:solidFill>
                  <a:srgbClr val="FFFFFF"/>
                </a:solidFill>
              </a:rPr>
              <a:t>INDIAN INSTITUTE OF TECHNOLOGY ROORKEE</a:t>
            </a:r>
          </a:p>
        </p:txBody>
      </p:sp>
      <p:sp>
        <p:nvSpPr>
          <p:cNvPr id="5" name="TextBox 4"/>
          <p:cNvSpPr txBox="1"/>
          <p:nvPr/>
        </p:nvSpPr>
        <p:spPr>
          <a:xfrm>
            <a:off x="182880" y="502920"/>
            <a:ext cx="11887200" cy="411480"/>
          </a:xfrm>
          <a:prstGeom prst="rect">
            <a:avLst/>
          </a:prstGeom>
          <a:noFill/>
        </p:spPr>
        <p:txBody>
          <a:bodyPr wrap="square">
            <a:spAutoFit/>
          </a:bodyPr>
          <a:lstStyle/>
          <a:p>
            <a:pPr algn="ctr"/>
            <a:r>
              <a:rPr sz="1400" b="0" i="1">
                <a:solidFill>
                  <a:srgbClr val="FFFFFF"/>
                </a:solidFill>
              </a:rPr>
              <a:t>Department of Mechanical &amp; Industrial Engineering</a:t>
            </a:r>
          </a:p>
        </p:txBody>
      </p:sp>
      <p:sp>
        <p:nvSpPr>
          <p:cNvPr id="6" name="TextBox 5"/>
          <p:cNvSpPr txBox="1"/>
          <p:nvPr/>
        </p:nvSpPr>
        <p:spPr>
          <a:xfrm>
            <a:off x="182880" y="868680"/>
            <a:ext cx="11887200" cy="320040"/>
          </a:xfrm>
          <a:prstGeom prst="rect">
            <a:avLst/>
          </a:prstGeom>
          <a:noFill/>
        </p:spPr>
        <p:txBody>
          <a:bodyPr wrap="square">
            <a:spAutoFit/>
          </a:bodyPr>
          <a:lstStyle/>
          <a:p>
            <a:pPr algn="ctr"/>
            <a:r>
              <a:rPr sz="1100" b="0" i="0">
                <a:solidFill>
                  <a:srgbClr val="DDFFFF"/>
                </a:solidFill>
              </a:rPr>
              <a:t>Course: MIT-115  |  May 2026</a:t>
            </a:r>
          </a:p>
        </p:txBody>
      </p:sp>
      <p:sp>
        <p:nvSpPr>
          <p:cNvPr id="7" name="Rectangle 6"/>
          <p:cNvSpPr/>
          <p:nvPr/>
        </p:nvSpPr>
        <p:spPr>
          <a:xfrm>
            <a:off x="457200" y="1554480"/>
            <a:ext cx="11247120" cy="1920240"/>
          </a:xfrm>
          <a:prstGeom prst="rect">
            <a:avLst/>
          </a:prstGeom>
          <a:solidFill>
            <a:srgbClr val="E8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11064240" cy="1737360"/>
          </a:xfrm>
          <a:prstGeom prst="rect">
            <a:avLst/>
          </a:prstGeom>
          <a:noFill/>
        </p:spPr>
        <p:txBody>
          <a:bodyPr wrap="square">
            <a:spAutoFit/>
          </a:bodyPr>
          <a:lstStyle/>
          <a:p>
            <a:pPr algn="ctr"/>
            <a:r>
              <a:rPr sz="3000" b="1" i="0">
                <a:solidFill>
                  <a:srgbClr val="007070"/>
                </a:solidFill>
              </a:rPr>
              <a:t>Physics-Aware Pedestrian
Automatic Emergency Braking (AEB) System</a:t>
            </a:r>
          </a:p>
        </p:txBody>
      </p:sp>
      <p:sp>
        <p:nvSpPr>
          <p:cNvPr id="9" name="TextBox 8"/>
          <p:cNvSpPr txBox="1"/>
          <p:nvPr/>
        </p:nvSpPr>
        <p:spPr>
          <a:xfrm>
            <a:off x="548640" y="3383280"/>
            <a:ext cx="11064240" cy="640080"/>
          </a:xfrm>
          <a:prstGeom prst="rect">
            <a:avLst/>
          </a:prstGeom>
          <a:noFill/>
        </p:spPr>
        <p:txBody>
          <a:bodyPr wrap="square">
            <a:spAutoFit/>
          </a:bodyPr>
          <a:lstStyle/>
          <a:p>
            <a:pPr algn="ctr"/>
            <a:r>
              <a:rPr sz="1300" b="0" i="1">
                <a:solidFill>
                  <a:srgbClr val="1F3964"/>
                </a:solidFill>
              </a:rPr>
              <a:t>Integrating Deep Learning Detection · Physics-Based Braking Dynamics
Brake Thermodynamics · Biomechanical Impact Analysis · Euro NCAP Validation</a:t>
            </a:r>
          </a:p>
        </p:txBody>
      </p:sp>
      <p:sp>
        <p:nvSpPr>
          <p:cNvPr id="10" name="Rectangle 9"/>
          <p:cNvSpPr/>
          <p:nvPr/>
        </p:nvSpPr>
        <p:spPr>
          <a:xfrm>
            <a:off x="457200" y="4160520"/>
            <a:ext cx="11247120" cy="411480"/>
          </a:xfrm>
          <a:prstGeom prst="rect">
            <a:avLst/>
          </a:prstGeom>
          <a:solidFill>
            <a:srgbClr val="0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178808"/>
            <a:ext cx="7315200" cy="365760"/>
          </a:xfrm>
          <a:prstGeom prst="rect">
            <a:avLst/>
          </a:prstGeom>
          <a:noFill/>
        </p:spPr>
        <p:txBody>
          <a:bodyPr wrap="square">
            <a:spAutoFit/>
          </a:bodyPr>
          <a:lstStyle/>
          <a:p>
            <a:pPr algn="l"/>
            <a:r>
              <a:rPr sz="1200" b="1" i="0">
                <a:solidFill>
                  <a:srgbClr val="FFFFFF"/>
                </a:solidFill>
              </a:rPr>
              <a:t>Supervisor: Prof. [Supervisor Name]</a:t>
            </a:r>
          </a:p>
        </p:txBody>
      </p:sp>
      <p:sp>
        <p:nvSpPr>
          <p:cNvPr id="12" name="Rectangle 11"/>
          <p:cNvSpPr/>
          <p:nvPr/>
        </p:nvSpPr>
        <p:spPr>
          <a:xfrm>
            <a:off x="274320" y="4800600"/>
            <a:ext cx="1783080" cy="1463040"/>
          </a:xfrm>
          <a:prstGeom prst="rect">
            <a:avLst/>
          </a:prstGeom>
          <a:solidFill>
            <a:srgbClr val="F0F8F8"/>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5074920"/>
            <a:ext cx="1691640" cy="365760"/>
          </a:xfrm>
          <a:prstGeom prst="rect">
            <a:avLst/>
          </a:prstGeom>
          <a:noFill/>
        </p:spPr>
        <p:txBody>
          <a:bodyPr wrap="square">
            <a:spAutoFit/>
          </a:bodyPr>
          <a:lstStyle/>
          <a:p>
            <a:pPr algn="ctr"/>
            <a:r>
              <a:rPr sz="1000" b="1" i="0">
                <a:solidFill>
                  <a:srgbClr val="007070"/>
                </a:solidFill>
              </a:rPr>
              <a:t>Atharv Priyadarshi</a:t>
            </a:r>
          </a:p>
        </p:txBody>
      </p:sp>
      <p:sp>
        <p:nvSpPr>
          <p:cNvPr id="14" name="TextBox 13"/>
          <p:cNvSpPr txBox="1"/>
          <p:nvPr/>
        </p:nvSpPr>
        <p:spPr>
          <a:xfrm>
            <a:off x="320040" y="5440680"/>
            <a:ext cx="1691640" cy="320040"/>
          </a:xfrm>
          <a:prstGeom prst="rect">
            <a:avLst/>
          </a:prstGeom>
          <a:noFill/>
        </p:spPr>
        <p:txBody>
          <a:bodyPr wrap="square">
            <a:spAutoFit/>
          </a:bodyPr>
          <a:lstStyle/>
          <a:p>
            <a:pPr algn="ctr"/>
            <a:r>
              <a:rPr sz="900" b="0" i="0">
                <a:solidFill>
                  <a:srgbClr val="000000"/>
                </a:solidFill>
              </a:rPr>
              <a:t>Enrollment: XXXXXXXXX</a:t>
            </a:r>
          </a:p>
        </p:txBody>
      </p:sp>
      <p:sp>
        <p:nvSpPr>
          <p:cNvPr id="15" name="Rectangle 14"/>
          <p:cNvSpPr/>
          <p:nvPr/>
        </p:nvSpPr>
        <p:spPr>
          <a:xfrm>
            <a:off x="2148840" y="4800600"/>
            <a:ext cx="1783080" cy="1463040"/>
          </a:xfrm>
          <a:prstGeom prst="rect">
            <a:avLst/>
          </a:prstGeom>
          <a:solidFill>
            <a:srgbClr val="F0F8F8"/>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5074920"/>
            <a:ext cx="1691640" cy="365760"/>
          </a:xfrm>
          <a:prstGeom prst="rect">
            <a:avLst/>
          </a:prstGeom>
          <a:noFill/>
        </p:spPr>
        <p:txBody>
          <a:bodyPr wrap="square">
            <a:spAutoFit/>
          </a:bodyPr>
          <a:lstStyle/>
          <a:p>
            <a:pPr algn="ctr"/>
            <a:r>
              <a:rPr sz="1000" b="1" i="0">
                <a:solidFill>
                  <a:srgbClr val="007070"/>
                </a:solidFill>
              </a:rPr>
              <a:t>Member 2</a:t>
            </a:r>
          </a:p>
        </p:txBody>
      </p:sp>
      <p:sp>
        <p:nvSpPr>
          <p:cNvPr id="17" name="TextBox 16"/>
          <p:cNvSpPr txBox="1"/>
          <p:nvPr/>
        </p:nvSpPr>
        <p:spPr>
          <a:xfrm>
            <a:off x="2194560" y="5440680"/>
            <a:ext cx="1691640" cy="320040"/>
          </a:xfrm>
          <a:prstGeom prst="rect">
            <a:avLst/>
          </a:prstGeom>
          <a:noFill/>
        </p:spPr>
        <p:txBody>
          <a:bodyPr wrap="square">
            <a:spAutoFit/>
          </a:bodyPr>
          <a:lstStyle/>
          <a:p>
            <a:pPr algn="ctr"/>
            <a:r>
              <a:rPr sz="900" b="0" i="0">
                <a:solidFill>
                  <a:srgbClr val="000000"/>
                </a:solidFill>
              </a:rPr>
              <a:t>Enrollment: XXXXXXXXX</a:t>
            </a:r>
          </a:p>
        </p:txBody>
      </p:sp>
      <p:sp>
        <p:nvSpPr>
          <p:cNvPr id="18" name="Rectangle 17"/>
          <p:cNvSpPr/>
          <p:nvPr/>
        </p:nvSpPr>
        <p:spPr>
          <a:xfrm>
            <a:off x="4023360" y="4800600"/>
            <a:ext cx="1783080" cy="1463040"/>
          </a:xfrm>
          <a:prstGeom prst="rect">
            <a:avLst/>
          </a:prstGeom>
          <a:solidFill>
            <a:srgbClr val="F0F8F8"/>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69080" y="5074920"/>
            <a:ext cx="1691640" cy="365760"/>
          </a:xfrm>
          <a:prstGeom prst="rect">
            <a:avLst/>
          </a:prstGeom>
          <a:noFill/>
        </p:spPr>
        <p:txBody>
          <a:bodyPr wrap="square">
            <a:spAutoFit/>
          </a:bodyPr>
          <a:lstStyle/>
          <a:p>
            <a:pPr algn="ctr"/>
            <a:r>
              <a:rPr sz="1000" b="1" i="0">
                <a:solidFill>
                  <a:srgbClr val="007070"/>
                </a:solidFill>
              </a:rPr>
              <a:t>Member 3</a:t>
            </a:r>
          </a:p>
        </p:txBody>
      </p:sp>
      <p:sp>
        <p:nvSpPr>
          <p:cNvPr id="20" name="TextBox 19"/>
          <p:cNvSpPr txBox="1"/>
          <p:nvPr/>
        </p:nvSpPr>
        <p:spPr>
          <a:xfrm>
            <a:off x="4069080" y="5440680"/>
            <a:ext cx="1691640" cy="320040"/>
          </a:xfrm>
          <a:prstGeom prst="rect">
            <a:avLst/>
          </a:prstGeom>
          <a:noFill/>
        </p:spPr>
        <p:txBody>
          <a:bodyPr wrap="square">
            <a:spAutoFit/>
          </a:bodyPr>
          <a:lstStyle/>
          <a:p>
            <a:pPr algn="ctr"/>
            <a:r>
              <a:rPr sz="900" b="0" i="0">
                <a:solidFill>
                  <a:srgbClr val="000000"/>
                </a:solidFill>
              </a:rPr>
              <a:t>Enrollment: XXXXXXXXX</a:t>
            </a:r>
          </a:p>
        </p:txBody>
      </p:sp>
      <p:sp>
        <p:nvSpPr>
          <p:cNvPr id="21" name="Rectangle 20"/>
          <p:cNvSpPr/>
          <p:nvPr/>
        </p:nvSpPr>
        <p:spPr>
          <a:xfrm>
            <a:off x="5897880" y="4800600"/>
            <a:ext cx="1783080" cy="1463040"/>
          </a:xfrm>
          <a:prstGeom prst="rect">
            <a:avLst/>
          </a:prstGeom>
          <a:solidFill>
            <a:srgbClr val="F0F8F8"/>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0" y="5074920"/>
            <a:ext cx="1691640" cy="365760"/>
          </a:xfrm>
          <a:prstGeom prst="rect">
            <a:avLst/>
          </a:prstGeom>
          <a:noFill/>
        </p:spPr>
        <p:txBody>
          <a:bodyPr wrap="square">
            <a:spAutoFit/>
          </a:bodyPr>
          <a:lstStyle/>
          <a:p>
            <a:pPr algn="ctr"/>
            <a:r>
              <a:rPr sz="1000" b="1" i="0">
                <a:solidFill>
                  <a:srgbClr val="007070"/>
                </a:solidFill>
              </a:rPr>
              <a:t>Member 4</a:t>
            </a:r>
          </a:p>
        </p:txBody>
      </p:sp>
      <p:sp>
        <p:nvSpPr>
          <p:cNvPr id="23" name="TextBox 22"/>
          <p:cNvSpPr txBox="1"/>
          <p:nvPr/>
        </p:nvSpPr>
        <p:spPr>
          <a:xfrm>
            <a:off x="5943600" y="5440680"/>
            <a:ext cx="1691640" cy="320040"/>
          </a:xfrm>
          <a:prstGeom prst="rect">
            <a:avLst/>
          </a:prstGeom>
          <a:noFill/>
        </p:spPr>
        <p:txBody>
          <a:bodyPr wrap="square">
            <a:spAutoFit/>
          </a:bodyPr>
          <a:lstStyle/>
          <a:p>
            <a:pPr algn="ctr"/>
            <a:r>
              <a:rPr sz="900" b="0" i="0">
                <a:solidFill>
                  <a:srgbClr val="000000"/>
                </a:solidFill>
              </a:rPr>
              <a:t>Enrollment: XXXXXXXXX</a:t>
            </a:r>
          </a:p>
        </p:txBody>
      </p:sp>
      <p:sp>
        <p:nvSpPr>
          <p:cNvPr id="24" name="Rectangle 23"/>
          <p:cNvSpPr/>
          <p:nvPr/>
        </p:nvSpPr>
        <p:spPr>
          <a:xfrm>
            <a:off x="7772400" y="4800600"/>
            <a:ext cx="1783080" cy="1463040"/>
          </a:xfrm>
          <a:prstGeom prst="rect">
            <a:avLst/>
          </a:prstGeom>
          <a:solidFill>
            <a:srgbClr val="F0F8F8"/>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5074920"/>
            <a:ext cx="1691640" cy="365760"/>
          </a:xfrm>
          <a:prstGeom prst="rect">
            <a:avLst/>
          </a:prstGeom>
          <a:noFill/>
        </p:spPr>
        <p:txBody>
          <a:bodyPr wrap="square">
            <a:spAutoFit/>
          </a:bodyPr>
          <a:lstStyle/>
          <a:p>
            <a:pPr algn="ctr"/>
            <a:r>
              <a:rPr sz="1000" b="1" i="0">
                <a:solidFill>
                  <a:srgbClr val="007070"/>
                </a:solidFill>
              </a:rPr>
              <a:t>Member 5</a:t>
            </a:r>
          </a:p>
        </p:txBody>
      </p:sp>
      <p:sp>
        <p:nvSpPr>
          <p:cNvPr id="26" name="TextBox 25"/>
          <p:cNvSpPr txBox="1"/>
          <p:nvPr/>
        </p:nvSpPr>
        <p:spPr>
          <a:xfrm>
            <a:off x="7818120" y="5440680"/>
            <a:ext cx="1691640" cy="320040"/>
          </a:xfrm>
          <a:prstGeom prst="rect">
            <a:avLst/>
          </a:prstGeom>
          <a:noFill/>
        </p:spPr>
        <p:txBody>
          <a:bodyPr wrap="square">
            <a:spAutoFit/>
          </a:bodyPr>
          <a:lstStyle/>
          <a:p>
            <a:pPr algn="ctr"/>
            <a:r>
              <a:rPr sz="900" b="0" i="0">
                <a:solidFill>
                  <a:srgbClr val="000000"/>
                </a:solidFill>
              </a:rPr>
              <a:t>Enrollment: XXXXXXXXX</a:t>
            </a:r>
          </a:p>
        </p:txBody>
      </p:sp>
      <p:sp>
        <p:nvSpPr>
          <p:cNvPr id="27" name="Rectangle 26"/>
          <p:cNvSpPr/>
          <p:nvPr/>
        </p:nvSpPr>
        <p:spPr>
          <a:xfrm>
            <a:off x="9646920" y="4800600"/>
            <a:ext cx="1783080" cy="1463040"/>
          </a:xfrm>
          <a:prstGeom prst="rect">
            <a:avLst/>
          </a:prstGeom>
          <a:solidFill>
            <a:srgbClr val="F0F8F8"/>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0" y="5074920"/>
            <a:ext cx="1691640" cy="365760"/>
          </a:xfrm>
          <a:prstGeom prst="rect">
            <a:avLst/>
          </a:prstGeom>
          <a:noFill/>
        </p:spPr>
        <p:txBody>
          <a:bodyPr wrap="square">
            <a:spAutoFit/>
          </a:bodyPr>
          <a:lstStyle/>
          <a:p>
            <a:pPr algn="ctr"/>
            <a:r>
              <a:rPr sz="1000" b="1" i="0">
                <a:solidFill>
                  <a:srgbClr val="007070"/>
                </a:solidFill>
              </a:rPr>
              <a:t>Member 6</a:t>
            </a:r>
          </a:p>
        </p:txBody>
      </p:sp>
      <p:sp>
        <p:nvSpPr>
          <p:cNvPr id="29" name="TextBox 28"/>
          <p:cNvSpPr txBox="1"/>
          <p:nvPr/>
        </p:nvSpPr>
        <p:spPr>
          <a:xfrm>
            <a:off x="9692640" y="5440680"/>
            <a:ext cx="1691640" cy="320040"/>
          </a:xfrm>
          <a:prstGeom prst="rect">
            <a:avLst/>
          </a:prstGeom>
          <a:noFill/>
        </p:spPr>
        <p:txBody>
          <a:bodyPr wrap="square">
            <a:spAutoFit/>
          </a:bodyPr>
          <a:lstStyle/>
          <a:p>
            <a:pPr algn="ctr"/>
            <a:r>
              <a:rPr sz="900" b="0" i="0">
                <a:solidFill>
                  <a:srgbClr val="000000"/>
                </a:solidFill>
              </a:rPr>
              <a:t>Enrollment: XXXXXXXXX</a:t>
            </a:r>
          </a:p>
        </p:txBody>
      </p:sp>
      <p:sp>
        <p:nvSpPr>
          <p:cNvPr id="30" name="Rectangle 29"/>
          <p:cNvSpPr/>
          <p:nvPr/>
        </p:nvSpPr>
        <p:spPr>
          <a:xfrm>
            <a:off x="0" y="6583680"/>
            <a:ext cx="12188952" cy="2743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6601968"/>
            <a:ext cx="11612880" cy="237744"/>
          </a:xfrm>
          <a:prstGeom prst="rect">
            <a:avLst/>
          </a:prstGeom>
          <a:noFill/>
        </p:spPr>
        <p:txBody>
          <a:bodyPr wrap="square">
            <a:spAutoFit/>
          </a:bodyPr>
          <a:lstStyle/>
          <a:p>
            <a:pPr algn="ctr"/>
            <a:r>
              <a:rPr sz="900" b="0" i="0">
                <a:solidFill>
                  <a:srgbClr val="FFFFFF"/>
                </a:solidFill>
              </a:rPr>
              <a:t>IIT ROORKEE  |  Department of Mechanical &amp; Industrial Engineering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10058400" cy="411480"/>
          </a:xfrm>
          <a:prstGeom prst="rect">
            <a:avLst/>
          </a:prstGeom>
          <a:noFill/>
        </p:spPr>
        <p:txBody>
          <a:bodyPr wrap="square">
            <a:spAutoFit/>
          </a:bodyPr>
          <a:lstStyle/>
          <a:p>
            <a:pPr algn="ctr"/>
            <a:r>
              <a:rPr sz="1600" b="0" i="0">
                <a:solidFill>
                  <a:srgbClr val="FFFFFF"/>
                </a:solidFill>
              </a:rPr>
              <a:t>INDIAN INSTITUTE OF TECHNOLOGY ROORKEE</a:t>
            </a:r>
          </a:p>
        </p:txBody>
      </p:sp>
      <p:sp>
        <p:nvSpPr>
          <p:cNvPr id="5" name="TextBox 4"/>
          <p:cNvSpPr txBox="1"/>
          <p:nvPr/>
        </p:nvSpPr>
        <p:spPr>
          <a:xfrm>
            <a:off x="274320" y="594360"/>
            <a:ext cx="11430000" cy="502920"/>
          </a:xfrm>
          <a:prstGeom prst="rect">
            <a:avLst/>
          </a:prstGeom>
          <a:noFill/>
        </p:spPr>
        <p:txBody>
          <a:bodyPr wrap="square">
            <a:spAutoFit/>
          </a:bodyPr>
          <a:lstStyle/>
          <a:p>
            <a:pPr algn="l"/>
            <a:r>
              <a:rPr sz="2800" b="1" i="0">
                <a:solidFill>
                  <a:srgbClr val="000000"/>
                </a:solidFill>
              </a:rPr>
              <a:t>RESEARCH OBJECTIVES AND METHODOLOGY</a:t>
            </a:r>
          </a:p>
        </p:txBody>
      </p:sp>
      <p:sp>
        <p:nvSpPr>
          <p:cNvPr id="6" name="Rectangle 5"/>
          <p:cNvSpPr/>
          <p:nvPr/>
        </p:nvSpPr>
        <p:spPr>
          <a:xfrm>
            <a:off x="274320" y="1115568"/>
            <a:ext cx="11612880" cy="36576"/>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56248"/>
            <a:ext cx="2743200" cy="274320"/>
          </a:xfrm>
          <a:prstGeom prst="rect">
            <a:avLst/>
          </a:prstGeom>
          <a:noFill/>
        </p:spPr>
        <p:txBody>
          <a:bodyPr wrap="square">
            <a:spAutoFit/>
          </a:bodyPr>
          <a:lstStyle/>
          <a:p>
            <a:pPr algn="l"/>
            <a:r>
              <a:rPr sz="1100" b="1" i="0">
                <a:solidFill>
                  <a:srgbClr val="007070"/>
                </a:solidFill>
              </a:rPr>
              <a:t>IIT ROORKEE</a:t>
            </a:r>
          </a:p>
        </p:txBody>
      </p:sp>
      <p:sp>
        <p:nvSpPr>
          <p:cNvPr id="9" name="TextBox 8"/>
          <p:cNvSpPr txBox="1"/>
          <p:nvPr/>
        </p:nvSpPr>
        <p:spPr>
          <a:xfrm>
            <a:off x="11640312" y="6556248"/>
            <a:ext cx="457200" cy="274320"/>
          </a:xfrm>
          <a:prstGeom prst="rect">
            <a:avLst/>
          </a:prstGeom>
          <a:noFill/>
        </p:spPr>
        <p:txBody>
          <a:bodyPr wrap="square">
            <a:spAutoFit/>
          </a:bodyPr>
          <a:lstStyle/>
          <a:p>
            <a:pPr algn="r"/>
            <a:r>
              <a:rPr sz="1100" b="1" i="0">
                <a:solidFill>
                  <a:srgbClr val="007070"/>
                </a:solidFill>
              </a:rPr>
              <a:t>2</a:t>
            </a:r>
          </a:p>
        </p:txBody>
      </p:sp>
      <p:sp>
        <p:nvSpPr>
          <p:cNvPr id="10" name="Rectangle 9"/>
          <p:cNvSpPr/>
          <p:nvPr/>
        </p:nvSpPr>
        <p:spPr>
          <a:xfrm>
            <a:off x="2834640" y="6611112"/>
            <a:ext cx="164592" cy="1645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35808" y="661111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6976" y="6611112"/>
            <a:ext cx="164592" cy="164592"/>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234440"/>
            <a:ext cx="5303520" cy="5303520"/>
          </a:xfrm>
          <a:prstGeom prst="rect">
            <a:avLst/>
          </a:prstGeom>
          <a:solidFill>
            <a:srgbClr val="F0F8F8"/>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280160"/>
            <a:ext cx="5120640" cy="365760"/>
          </a:xfrm>
          <a:prstGeom prst="rect">
            <a:avLst/>
          </a:prstGeom>
          <a:noFill/>
        </p:spPr>
        <p:txBody>
          <a:bodyPr wrap="square">
            <a:spAutoFit/>
          </a:bodyPr>
          <a:lstStyle/>
          <a:p>
            <a:pPr algn="l"/>
            <a:r>
              <a:rPr sz="1400" b="1" i="0">
                <a:solidFill>
                  <a:srgbClr val="007070"/>
                </a:solidFill>
              </a:rPr>
              <a:t>Research Objectives</a:t>
            </a:r>
          </a:p>
        </p:txBody>
      </p:sp>
      <p:sp>
        <p:nvSpPr>
          <p:cNvPr id="15" name="TextBox 14"/>
          <p:cNvSpPr txBox="1"/>
          <p:nvPr/>
        </p:nvSpPr>
        <p:spPr>
          <a:xfrm>
            <a:off x="365760" y="1691640"/>
            <a:ext cx="5120640" cy="4663440"/>
          </a:xfrm>
          <a:prstGeom prst="rect">
            <a:avLst/>
          </a:prstGeom>
          <a:noFill/>
        </p:spPr>
        <p:txBody>
          <a:bodyPr wrap="square">
            <a:spAutoFit/>
          </a:bodyPr>
          <a:lstStyle/>
          <a:p>
            <a:pPr>
              <a:spcBef>
                <a:spcPts val="800"/>
              </a:spcBef>
            </a:pPr>
            <a:r>
              <a:rPr sz="1100">
                <a:solidFill>
                  <a:srgbClr val="000000"/>
                </a:solidFill>
              </a:rPr>
              <a:t>O1  Develop a real-time pedestrian detection system using YOLOv8 trained on 6,000 BDD100K images with 4-class output (pedestrian, car, bicycle, motorcycle).</a:t>
            </a:r>
          </a:p>
          <a:p>
            <a:pPr>
              <a:spcBef>
                <a:spcPts val="800"/>
              </a:spcBef>
            </a:pPr>
            <a:r>
              <a:rPr sz="1100">
                <a:solidFill>
                  <a:srgbClr val="000000"/>
                </a:solidFill>
              </a:rPr>
              <a:t>O2  Implement a physics-based longitudinal braking model incorporating the Pacejka Magic Formula tire model, ABS pressure modulation, and brake thermodynamics (Q = mcΔT, Newton's Cooling Law).</a:t>
            </a:r>
          </a:p>
          <a:p>
            <a:pPr>
              <a:spcBef>
                <a:spcPts val="800"/>
              </a:spcBef>
            </a:pPr>
            <a:r>
              <a:rPr sz="1100">
                <a:solidFill>
                  <a:srgbClr val="000000"/>
                </a:solidFill>
              </a:rPr>
              <a:t>O3  Design an adaptive AEB controller that dynamically adjusts TTC trigger thresholds based on weather conditions, driver drowsiness state, and real-time brake thermal fade.</a:t>
            </a:r>
          </a:p>
          <a:p>
            <a:pPr>
              <a:spcBef>
                <a:spcPts val="800"/>
              </a:spcBef>
            </a:pPr>
            <a:r>
              <a:rPr sz="1100">
                <a:solidFill>
                  <a:srgbClr val="000000"/>
                </a:solidFill>
              </a:rPr>
              <a:t>O4  Validate system performance against Euro NCAP pedestrian AEB testing protocols across 4 standardized scenarios (CPFA, CPNA, CPNC, CPLA) at speeds 20–60 km/h.</a:t>
            </a:r>
          </a:p>
          <a:p>
            <a:pPr>
              <a:spcBef>
                <a:spcPts val="800"/>
              </a:spcBef>
            </a:pPr>
            <a:r>
              <a:rPr sz="1100">
                <a:solidFill>
                  <a:srgbClr val="000000"/>
                </a:solidFill>
              </a:rPr>
              <a:t>O5  Quantify pedestrian injury outcomes when AEB partially fails using the Head Injury Criterion (HIC) biomechanical model aligned with Euro NCAP and NHTSA standards.</a:t>
            </a:r>
          </a:p>
        </p:txBody>
      </p:sp>
      <p:sp>
        <p:nvSpPr>
          <p:cNvPr id="16" name="Rectangle 15"/>
          <p:cNvSpPr/>
          <p:nvPr/>
        </p:nvSpPr>
        <p:spPr>
          <a:xfrm>
            <a:off x="5806440" y="1234440"/>
            <a:ext cx="6126480" cy="5303520"/>
          </a:xfrm>
          <a:prstGeom prst="rect">
            <a:avLst/>
          </a:prstGeom>
          <a:solidFill>
            <a:srgbClr val="F5F0FF"/>
          </a:solidFill>
          <a:ln>
            <a:solidFill>
              <a:srgbClr val="1F39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97880" y="1280160"/>
            <a:ext cx="5943600" cy="365760"/>
          </a:xfrm>
          <a:prstGeom prst="rect">
            <a:avLst/>
          </a:prstGeom>
          <a:noFill/>
        </p:spPr>
        <p:txBody>
          <a:bodyPr wrap="square">
            <a:spAutoFit/>
          </a:bodyPr>
          <a:lstStyle/>
          <a:p>
            <a:pPr algn="l"/>
            <a:r>
              <a:rPr sz="1400" b="1" i="0">
                <a:solidFill>
                  <a:srgbClr val="1F3964"/>
                </a:solidFill>
              </a:rPr>
              <a:t>Methodology</a:t>
            </a:r>
          </a:p>
        </p:txBody>
      </p:sp>
      <p:sp>
        <p:nvSpPr>
          <p:cNvPr id="18" name="Rectangle 17"/>
          <p:cNvSpPr/>
          <p:nvPr/>
        </p:nvSpPr>
        <p:spPr>
          <a:xfrm>
            <a:off x="5897880" y="1691640"/>
            <a:ext cx="5897880" cy="777240"/>
          </a:xfrm>
          <a:prstGeom prst="rect">
            <a:avLst/>
          </a:prstGeom>
          <a:solidFill>
            <a:srgbClr val="FFFFFF"/>
          </a:solidFill>
          <a:ln>
            <a:solidFill>
              <a:srgbClr val="CCC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9320" y="1719072"/>
            <a:ext cx="5760720" cy="256032"/>
          </a:xfrm>
          <a:prstGeom prst="rect">
            <a:avLst/>
          </a:prstGeom>
          <a:noFill/>
        </p:spPr>
        <p:txBody>
          <a:bodyPr wrap="square">
            <a:spAutoFit/>
          </a:bodyPr>
          <a:lstStyle/>
          <a:p>
            <a:pPr algn="l"/>
            <a:r>
              <a:rPr sz="1100" b="1" i="0">
                <a:solidFill>
                  <a:srgbClr val="1F3964"/>
                </a:solidFill>
              </a:rPr>
              <a:t>Perception Layer</a:t>
            </a:r>
          </a:p>
        </p:txBody>
      </p:sp>
      <p:sp>
        <p:nvSpPr>
          <p:cNvPr id="20" name="TextBox 19"/>
          <p:cNvSpPr txBox="1"/>
          <p:nvPr/>
        </p:nvSpPr>
        <p:spPr>
          <a:xfrm>
            <a:off x="5989320" y="1965960"/>
            <a:ext cx="5760720" cy="457200"/>
          </a:xfrm>
          <a:prstGeom prst="rect">
            <a:avLst/>
          </a:prstGeom>
          <a:noFill/>
        </p:spPr>
        <p:txBody>
          <a:bodyPr wrap="square">
            <a:spAutoFit/>
          </a:bodyPr>
          <a:lstStyle/>
          <a:p>
            <a:pPr algn="l"/>
            <a:r>
              <a:rPr sz="950" b="0" i="0">
                <a:solidFill>
                  <a:srgbClr val="000000"/>
                </a:solidFill>
              </a:rPr>
              <a:t>YOLOv8n → SORT (Kalman+Hungarian) → MiDaS depth → lane corridor filtering</a:t>
            </a:r>
          </a:p>
        </p:txBody>
      </p:sp>
      <p:sp>
        <p:nvSpPr>
          <p:cNvPr id="21" name="Rectangle 20"/>
          <p:cNvSpPr/>
          <p:nvPr/>
        </p:nvSpPr>
        <p:spPr>
          <a:xfrm>
            <a:off x="5897880" y="2587752"/>
            <a:ext cx="5897880" cy="777240"/>
          </a:xfrm>
          <a:prstGeom prst="rect">
            <a:avLst/>
          </a:prstGeom>
          <a:solidFill>
            <a:srgbClr val="FFFFFF"/>
          </a:solidFill>
          <a:ln>
            <a:solidFill>
              <a:srgbClr val="CCC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89320" y="2615184"/>
            <a:ext cx="5760720" cy="256032"/>
          </a:xfrm>
          <a:prstGeom prst="rect">
            <a:avLst/>
          </a:prstGeom>
          <a:noFill/>
        </p:spPr>
        <p:txBody>
          <a:bodyPr wrap="square">
            <a:spAutoFit/>
          </a:bodyPr>
          <a:lstStyle/>
          <a:p>
            <a:pPr algn="l"/>
            <a:r>
              <a:rPr sz="1100" b="1" i="0">
                <a:solidFill>
                  <a:srgbClr val="1F3964"/>
                </a:solidFill>
              </a:rPr>
              <a:t>Physics Engine</a:t>
            </a:r>
          </a:p>
        </p:txBody>
      </p:sp>
      <p:sp>
        <p:nvSpPr>
          <p:cNvPr id="23" name="TextBox 22"/>
          <p:cNvSpPr txBox="1"/>
          <p:nvPr/>
        </p:nvSpPr>
        <p:spPr>
          <a:xfrm>
            <a:off x="5989320" y="2862072"/>
            <a:ext cx="5760720" cy="457200"/>
          </a:xfrm>
          <a:prstGeom prst="rect">
            <a:avLst/>
          </a:prstGeom>
          <a:noFill/>
        </p:spPr>
        <p:txBody>
          <a:bodyPr wrap="square">
            <a:spAutoFit/>
          </a:bodyPr>
          <a:lstStyle/>
          <a:p>
            <a:pPr algn="l"/>
            <a:r>
              <a:rPr sz="950" b="0" i="0">
                <a:solidFill>
                  <a:srgbClr val="000000"/>
                </a:solidFill>
              </a:rPr>
              <a:t>Pacejka Magic Formula + dynamic weight transfer + ABS modulation + thermal model</a:t>
            </a:r>
          </a:p>
        </p:txBody>
      </p:sp>
      <p:sp>
        <p:nvSpPr>
          <p:cNvPr id="24" name="Rectangle 23"/>
          <p:cNvSpPr/>
          <p:nvPr/>
        </p:nvSpPr>
        <p:spPr>
          <a:xfrm>
            <a:off x="5897880" y="3483864"/>
            <a:ext cx="5897880" cy="777240"/>
          </a:xfrm>
          <a:prstGeom prst="rect">
            <a:avLst/>
          </a:prstGeom>
          <a:solidFill>
            <a:srgbClr val="FFFFFF"/>
          </a:solidFill>
          <a:ln>
            <a:solidFill>
              <a:srgbClr val="CCC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89320" y="3511296"/>
            <a:ext cx="5760720" cy="256032"/>
          </a:xfrm>
          <a:prstGeom prst="rect">
            <a:avLst/>
          </a:prstGeom>
          <a:noFill/>
        </p:spPr>
        <p:txBody>
          <a:bodyPr wrap="square">
            <a:spAutoFit/>
          </a:bodyPr>
          <a:lstStyle/>
          <a:p>
            <a:pPr algn="l"/>
            <a:r>
              <a:rPr sz="1100" b="1" i="0">
                <a:solidFill>
                  <a:srgbClr val="1F3964"/>
                </a:solidFill>
              </a:rPr>
              <a:t>Adaptive Decision</a:t>
            </a:r>
          </a:p>
        </p:txBody>
      </p:sp>
      <p:sp>
        <p:nvSpPr>
          <p:cNvPr id="26" name="TextBox 25"/>
          <p:cNvSpPr txBox="1"/>
          <p:nvPr/>
        </p:nvSpPr>
        <p:spPr>
          <a:xfrm>
            <a:off x="5989320" y="3758184"/>
            <a:ext cx="5760720" cy="457200"/>
          </a:xfrm>
          <a:prstGeom prst="rect">
            <a:avLst/>
          </a:prstGeom>
          <a:noFill/>
        </p:spPr>
        <p:txBody>
          <a:bodyPr wrap="square">
            <a:spAutoFit/>
          </a:bodyPr>
          <a:lstStyle/>
          <a:p>
            <a:pPr algn="l"/>
            <a:r>
              <a:rPr sz="950" b="0" i="0">
                <a:solidFill>
                  <a:srgbClr val="000000"/>
                </a:solidFill>
              </a:rPr>
              <a:t>TTC = distance / relative_speed; threshold = base + Δweather + Δdriver + Δthermo</a:t>
            </a:r>
          </a:p>
        </p:txBody>
      </p:sp>
      <p:sp>
        <p:nvSpPr>
          <p:cNvPr id="27" name="Rectangle 26"/>
          <p:cNvSpPr/>
          <p:nvPr/>
        </p:nvSpPr>
        <p:spPr>
          <a:xfrm>
            <a:off x="5897880" y="4379976"/>
            <a:ext cx="5897880" cy="777240"/>
          </a:xfrm>
          <a:prstGeom prst="rect">
            <a:avLst/>
          </a:prstGeom>
          <a:solidFill>
            <a:srgbClr val="FFFFFF"/>
          </a:solidFill>
          <a:ln>
            <a:solidFill>
              <a:srgbClr val="CCC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89320" y="4407408"/>
            <a:ext cx="5760720" cy="256032"/>
          </a:xfrm>
          <a:prstGeom prst="rect">
            <a:avLst/>
          </a:prstGeom>
          <a:noFill/>
        </p:spPr>
        <p:txBody>
          <a:bodyPr wrap="square">
            <a:spAutoFit/>
          </a:bodyPr>
          <a:lstStyle/>
          <a:p>
            <a:pPr algn="l"/>
            <a:r>
              <a:rPr sz="1100" b="1" i="0">
                <a:solidFill>
                  <a:srgbClr val="1F3964"/>
                </a:solidFill>
              </a:rPr>
              <a:t>Safety Analysis</a:t>
            </a:r>
          </a:p>
        </p:txBody>
      </p:sp>
      <p:sp>
        <p:nvSpPr>
          <p:cNvPr id="29" name="TextBox 28"/>
          <p:cNvSpPr txBox="1"/>
          <p:nvPr/>
        </p:nvSpPr>
        <p:spPr>
          <a:xfrm>
            <a:off x="5989320" y="4654296"/>
            <a:ext cx="5760720" cy="457200"/>
          </a:xfrm>
          <a:prstGeom prst="rect">
            <a:avLst/>
          </a:prstGeom>
          <a:noFill/>
        </p:spPr>
        <p:txBody>
          <a:bodyPr wrap="square">
            <a:spAutoFit/>
          </a:bodyPr>
          <a:lstStyle/>
          <a:p>
            <a:pPr algn="l"/>
            <a:r>
              <a:rPr sz="950" b="0" i="0">
                <a:solidFill>
                  <a:srgbClr val="000000"/>
                </a:solidFill>
              </a:rPr>
              <a:t>HIC = t_c × (a_peak/g)^2.5 with half-sine impact pulse; WAD → impact zone → AIS severity</a:t>
            </a:r>
          </a:p>
        </p:txBody>
      </p:sp>
      <p:sp>
        <p:nvSpPr>
          <p:cNvPr id="30" name="Rectangle 29"/>
          <p:cNvSpPr/>
          <p:nvPr/>
        </p:nvSpPr>
        <p:spPr>
          <a:xfrm>
            <a:off x="5897880" y="5276088"/>
            <a:ext cx="5897880" cy="777240"/>
          </a:xfrm>
          <a:prstGeom prst="rect">
            <a:avLst/>
          </a:prstGeom>
          <a:solidFill>
            <a:srgbClr val="FFFFFF"/>
          </a:solidFill>
          <a:ln>
            <a:solidFill>
              <a:srgbClr val="CCC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89320" y="5303520"/>
            <a:ext cx="5760720" cy="256032"/>
          </a:xfrm>
          <a:prstGeom prst="rect">
            <a:avLst/>
          </a:prstGeom>
          <a:noFill/>
        </p:spPr>
        <p:txBody>
          <a:bodyPr wrap="square">
            <a:spAutoFit/>
          </a:bodyPr>
          <a:lstStyle/>
          <a:p>
            <a:pPr algn="l"/>
            <a:r>
              <a:rPr sz="1100" b="1" i="0">
                <a:solidFill>
                  <a:srgbClr val="1F3964"/>
                </a:solidFill>
              </a:rPr>
              <a:t>Validation</a:t>
            </a:r>
          </a:p>
        </p:txBody>
      </p:sp>
      <p:sp>
        <p:nvSpPr>
          <p:cNvPr id="32" name="TextBox 31"/>
          <p:cNvSpPr txBox="1"/>
          <p:nvPr/>
        </p:nvSpPr>
        <p:spPr>
          <a:xfrm>
            <a:off x="5989320" y="5550408"/>
            <a:ext cx="5760720" cy="457200"/>
          </a:xfrm>
          <a:prstGeom prst="rect">
            <a:avLst/>
          </a:prstGeom>
          <a:noFill/>
        </p:spPr>
        <p:txBody>
          <a:bodyPr wrap="square">
            <a:spAutoFit/>
          </a:bodyPr>
          <a:lstStyle/>
          <a:p>
            <a:pPr algn="l"/>
            <a:r>
              <a:rPr sz="950" b="0" i="0">
                <a:solidFill>
                  <a:srgbClr val="000000"/>
                </a:solidFill>
              </a:rPr>
              <a:t>Euro NCAP CPFA/CPNA/CPNC/CPLA; dynamics self-test (50 km/h dry: 13–22 m); CARLA closed-loop simulation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10058400" cy="411480"/>
          </a:xfrm>
          <a:prstGeom prst="rect">
            <a:avLst/>
          </a:prstGeom>
          <a:noFill/>
        </p:spPr>
        <p:txBody>
          <a:bodyPr wrap="square">
            <a:spAutoFit/>
          </a:bodyPr>
          <a:lstStyle/>
          <a:p>
            <a:pPr algn="ctr"/>
            <a:r>
              <a:rPr sz="1600" b="0" i="0">
                <a:solidFill>
                  <a:srgbClr val="FFFFFF"/>
                </a:solidFill>
              </a:rPr>
              <a:t>INDIAN INSTITUTE OF TECHNOLOGY ROORKEE</a:t>
            </a:r>
          </a:p>
        </p:txBody>
      </p:sp>
      <p:sp>
        <p:nvSpPr>
          <p:cNvPr id="5" name="TextBox 4"/>
          <p:cNvSpPr txBox="1"/>
          <p:nvPr/>
        </p:nvSpPr>
        <p:spPr>
          <a:xfrm>
            <a:off x="274320" y="594360"/>
            <a:ext cx="11430000" cy="502920"/>
          </a:xfrm>
          <a:prstGeom prst="rect">
            <a:avLst/>
          </a:prstGeom>
          <a:noFill/>
        </p:spPr>
        <p:txBody>
          <a:bodyPr wrap="square">
            <a:spAutoFit/>
          </a:bodyPr>
          <a:lstStyle/>
          <a:p>
            <a:pPr algn="l"/>
            <a:r>
              <a:rPr sz="2800" b="1" i="0">
                <a:solidFill>
                  <a:srgbClr val="000000"/>
                </a:solidFill>
              </a:rPr>
              <a:t>PROJECT TIMELINE</a:t>
            </a:r>
          </a:p>
        </p:txBody>
      </p:sp>
      <p:sp>
        <p:nvSpPr>
          <p:cNvPr id="6" name="Rectangle 5"/>
          <p:cNvSpPr/>
          <p:nvPr/>
        </p:nvSpPr>
        <p:spPr>
          <a:xfrm>
            <a:off x="274320" y="1115568"/>
            <a:ext cx="11612880" cy="36576"/>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56248"/>
            <a:ext cx="2743200" cy="274320"/>
          </a:xfrm>
          <a:prstGeom prst="rect">
            <a:avLst/>
          </a:prstGeom>
          <a:noFill/>
        </p:spPr>
        <p:txBody>
          <a:bodyPr wrap="square">
            <a:spAutoFit/>
          </a:bodyPr>
          <a:lstStyle/>
          <a:p>
            <a:pPr algn="l"/>
            <a:r>
              <a:rPr sz="1100" b="1" i="0">
                <a:solidFill>
                  <a:srgbClr val="007070"/>
                </a:solidFill>
              </a:rPr>
              <a:t>IIT ROORKEE</a:t>
            </a:r>
          </a:p>
        </p:txBody>
      </p:sp>
      <p:sp>
        <p:nvSpPr>
          <p:cNvPr id="9" name="TextBox 8"/>
          <p:cNvSpPr txBox="1"/>
          <p:nvPr/>
        </p:nvSpPr>
        <p:spPr>
          <a:xfrm>
            <a:off x="11640312" y="6556248"/>
            <a:ext cx="457200" cy="274320"/>
          </a:xfrm>
          <a:prstGeom prst="rect">
            <a:avLst/>
          </a:prstGeom>
          <a:noFill/>
        </p:spPr>
        <p:txBody>
          <a:bodyPr wrap="square">
            <a:spAutoFit/>
          </a:bodyPr>
          <a:lstStyle/>
          <a:p>
            <a:pPr algn="r"/>
            <a:r>
              <a:rPr sz="1100" b="1" i="0">
                <a:solidFill>
                  <a:srgbClr val="007070"/>
                </a:solidFill>
              </a:rPr>
              <a:t>3</a:t>
            </a:r>
          </a:p>
        </p:txBody>
      </p:sp>
      <p:sp>
        <p:nvSpPr>
          <p:cNvPr id="10" name="Rectangle 9"/>
          <p:cNvSpPr/>
          <p:nvPr/>
        </p:nvSpPr>
        <p:spPr>
          <a:xfrm>
            <a:off x="2834640" y="6611112"/>
            <a:ext cx="164592" cy="1645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35808" y="661111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6976" y="6611112"/>
            <a:ext cx="164592" cy="164592"/>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182880" y="1188720"/>
            <a:ext cx="11795760" cy="53949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10058400" cy="411480"/>
          </a:xfrm>
          <a:prstGeom prst="rect">
            <a:avLst/>
          </a:prstGeom>
          <a:noFill/>
        </p:spPr>
        <p:txBody>
          <a:bodyPr wrap="square">
            <a:spAutoFit/>
          </a:bodyPr>
          <a:lstStyle/>
          <a:p>
            <a:pPr algn="ctr"/>
            <a:r>
              <a:rPr sz="1600" b="0" i="0">
                <a:solidFill>
                  <a:srgbClr val="FFFFFF"/>
                </a:solidFill>
              </a:rPr>
              <a:t>INDIAN INSTITUTE OF TECHNOLOGY ROORKEE</a:t>
            </a:r>
          </a:p>
        </p:txBody>
      </p:sp>
      <p:sp>
        <p:nvSpPr>
          <p:cNvPr id="5" name="TextBox 4"/>
          <p:cNvSpPr txBox="1"/>
          <p:nvPr/>
        </p:nvSpPr>
        <p:spPr>
          <a:xfrm>
            <a:off x="274320" y="594360"/>
            <a:ext cx="11430000" cy="502920"/>
          </a:xfrm>
          <a:prstGeom prst="rect">
            <a:avLst/>
          </a:prstGeom>
          <a:noFill/>
        </p:spPr>
        <p:txBody>
          <a:bodyPr wrap="square">
            <a:spAutoFit/>
          </a:bodyPr>
          <a:lstStyle/>
          <a:p>
            <a:pPr algn="l"/>
            <a:r>
              <a:rPr sz="2800" b="1" i="0">
                <a:solidFill>
                  <a:srgbClr val="000000"/>
                </a:solidFill>
              </a:rPr>
              <a:t>RESULTS &amp; DISCUSSION — OBJECT DETECTION &amp; TRACKING</a:t>
            </a:r>
          </a:p>
        </p:txBody>
      </p:sp>
      <p:sp>
        <p:nvSpPr>
          <p:cNvPr id="6" name="Rectangle 5"/>
          <p:cNvSpPr/>
          <p:nvPr/>
        </p:nvSpPr>
        <p:spPr>
          <a:xfrm>
            <a:off x="274320" y="1115568"/>
            <a:ext cx="11612880" cy="36576"/>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56248"/>
            <a:ext cx="2743200" cy="274320"/>
          </a:xfrm>
          <a:prstGeom prst="rect">
            <a:avLst/>
          </a:prstGeom>
          <a:noFill/>
        </p:spPr>
        <p:txBody>
          <a:bodyPr wrap="square">
            <a:spAutoFit/>
          </a:bodyPr>
          <a:lstStyle/>
          <a:p>
            <a:pPr algn="l"/>
            <a:r>
              <a:rPr sz="1100" b="1" i="0">
                <a:solidFill>
                  <a:srgbClr val="007070"/>
                </a:solidFill>
              </a:rPr>
              <a:t>IIT ROORKEE</a:t>
            </a:r>
          </a:p>
        </p:txBody>
      </p:sp>
      <p:sp>
        <p:nvSpPr>
          <p:cNvPr id="9" name="TextBox 8"/>
          <p:cNvSpPr txBox="1"/>
          <p:nvPr/>
        </p:nvSpPr>
        <p:spPr>
          <a:xfrm>
            <a:off x="11640312" y="6556248"/>
            <a:ext cx="457200" cy="274320"/>
          </a:xfrm>
          <a:prstGeom prst="rect">
            <a:avLst/>
          </a:prstGeom>
          <a:noFill/>
        </p:spPr>
        <p:txBody>
          <a:bodyPr wrap="square">
            <a:spAutoFit/>
          </a:bodyPr>
          <a:lstStyle/>
          <a:p>
            <a:pPr algn="r"/>
            <a:r>
              <a:rPr sz="1100" b="1" i="0">
                <a:solidFill>
                  <a:srgbClr val="007070"/>
                </a:solidFill>
              </a:rPr>
              <a:t>4</a:t>
            </a:r>
          </a:p>
        </p:txBody>
      </p:sp>
      <p:sp>
        <p:nvSpPr>
          <p:cNvPr id="10" name="Rectangle 9"/>
          <p:cNvSpPr/>
          <p:nvPr/>
        </p:nvSpPr>
        <p:spPr>
          <a:xfrm>
            <a:off x="2834640" y="6611112"/>
            <a:ext cx="164592" cy="1645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35808" y="661111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6976" y="6611112"/>
            <a:ext cx="164592" cy="164592"/>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182880" y="1234440"/>
            <a:ext cx="11795760" cy="4206240"/>
          </a:xfrm>
          <a:prstGeom prst="rect">
            <a:avLst/>
          </a:prstGeom>
        </p:spPr>
      </p:pic>
      <p:sp>
        <p:nvSpPr>
          <p:cNvPr id="14" name="Rectangle 13"/>
          <p:cNvSpPr/>
          <p:nvPr/>
        </p:nvSpPr>
        <p:spPr>
          <a:xfrm>
            <a:off x="182880" y="5577840"/>
            <a:ext cx="1920240" cy="822960"/>
          </a:xfrm>
          <a:prstGeom prst="rect">
            <a:avLst/>
          </a:prstGeom>
          <a:solidFill>
            <a:srgbClr val="E0F0F0"/>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 y="5596128"/>
            <a:ext cx="1920240" cy="274320"/>
          </a:xfrm>
          <a:prstGeom prst="rect">
            <a:avLst/>
          </a:prstGeom>
          <a:noFill/>
        </p:spPr>
        <p:txBody>
          <a:bodyPr wrap="square">
            <a:spAutoFit/>
          </a:bodyPr>
          <a:lstStyle/>
          <a:p>
            <a:pPr algn="ctr"/>
            <a:r>
              <a:rPr sz="900" b="1" i="0">
                <a:solidFill>
                  <a:srgbClr val="007070"/>
                </a:solidFill>
              </a:rPr>
              <a:t>YOLOv8n</a:t>
            </a:r>
          </a:p>
        </p:txBody>
      </p:sp>
      <p:sp>
        <p:nvSpPr>
          <p:cNvPr id="16" name="TextBox 15"/>
          <p:cNvSpPr txBox="1"/>
          <p:nvPr/>
        </p:nvSpPr>
        <p:spPr>
          <a:xfrm>
            <a:off x="228600" y="5870448"/>
            <a:ext cx="1920240" cy="320040"/>
          </a:xfrm>
          <a:prstGeom prst="rect">
            <a:avLst/>
          </a:prstGeom>
          <a:noFill/>
        </p:spPr>
        <p:txBody>
          <a:bodyPr wrap="square">
            <a:spAutoFit/>
          </a:bodyPr>
          <a:lstStyle/>
          <a:p>
            <a:pPr algn="ctr"/>
            <a:r>
              <a:rPr sz="1000" b="0" i="0">
                <a:solidFill>
                  <a:srgbClr val="000000"/>
                </a:solidFill>
              </a:rPr>
              <a:t>4-class detector</a:t>
            </a:r>
          </a:p>
        </p:txBody>
      </p:sp>
      <p:sp>
        <p:nvSpPr>
          <p:cNvPr id="17" name="Rectangle 16"/>
          <p:cNvSpPr/>
          <p:nvPr/>
        </p:nvSpPr>
        <p:spPr>
          <a:xfrm>
            <a:off x="2121408" y="5577840"/>
            <a:ext cx="1920240" cy="822960"/>
          </a:xfrm>
          <a:prstGeom prst="rect">
            <a:avLst/>
          </a:prstGeom>
          <a:solidFill>
            <a:srgbClr val="E0F0F0"/>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7128" y="5596128"/>
            <a:ext cx="1920240" cy="274320"/>
          </a:xfrm>
          <a:prstGeom prst="rect">
            <a:avLst/>
          </a:prstGeom>
          <a:noFill/>
        </p:spPr>
        <p:txBody>
          <a:bodyPr wrap="square">
            <a:spAutoFit/>
          </a:bodyPr>
          <a:lstStyle/>
          <a:p>
            <a:pPr algn="ctr"/>
            <a:r>
              <a:rPr sz="900" b="1" i="0">
                <a:solidFill>
                  <a:srgbClr val="007070"/>
                </a:solidFill>
              </a:rPr>
              <a:t>mAP@0.5</a:t>
            </a:r>
          </a:p>
        </p:txBody>
      </p:sp>
      <p:sp>
        <p:nvSpPr>
          <p:cNvPr id="19" name="TextBox 18"/>
          <p:cNvSpPr txBox="1"/>
          <p:nvPr/>
        </p:nvSpPr>
        <p:spPr>
          <a:xfrm>
            <a:off x="2167128" y="5870448"/>
            <a:ext cx="1920240" cy="320040"/>
          </a:xfrm>
          <a:prstGeom prst="rect">
            <a:avLst/>
          </a:prstGeom>
          <a:noFill/>
        </p:spPr>
        <p:txBody>
          <a:bodyPr wrap="square">
            <a:spAutoFit/>
          </a:bodyPr>
          <a:lstStyle/>
          <a:p>
            <a:pPr algn="ctr"/>
            <a:r>
              <a:rPr sz="1000" b="0" i="0">
                <a:solidFill>
                  <a:srgbClr val="000000"/>
                </a:solidFill>
              </a:rPr>
              <a:t>78.3% (Pedestrian)</a:t>
            </a:r>
          </a:p>
        </p:txBody>
      </p:sp>
      <p:sp>
        <p:nvSpPr>
          <p:cNvPr id="20" name="Rectangle 19"/>
          <p:cNvSpPr/>
          <p:nvPr/>
        </p:nvSpPr>
        <p:spPr>
          <a:xfrm>
            <a:off x="4059936" y="5577840"/>
            <a:ext cx="1920240" cy="822960"/>
          </a:xfrm>
          <a:prstGeom prst="rect">
            <a:avLst/>
          </a:prstGeom>
          <a:solidFill>
            <a:srgbClr val="E0F0F0"/>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5596128"/>
            <a:ext cx="1920240" cy="274320"/>
          </a:xfrm>
          <a:prstGeom prst="rect">
            <a:avLst/>
          </a:prstGeom>
          <a:noFill/>
        </p:spPr>
        <p:txBody>
          <a:bodyPr wrap="square">
            <a:spAutoFit/>
          </a:bodyPr>
          <a:lstStyle/>
          <a:p>
            <a:pPr algn="ctr"/>
            <a:r>
              <a:rPr sz="900" b="1" i="0">
                <a:solidFill>
                  <a:srgbClr val="007070"/>
                </a:solidFill>
              </a:rPr>
              <a:t>Training</a:t>
            </a:r>
          </a:p>
        </p:txBody>
      </p:sp>
      <p:sp>
        <p:nvSpPr>
          <p:cNvPr id="22" name="TextBox 21"/>
          <p:cNvSpPr txBox="1"/>
          <p:nvPr/>
        </p:nvSpPr>
        <p:spPr>
          <a:xfrm>
            <a:off x="4105656" y="5870448"/>
            <a:ext cx="1920240" cy="320040"/>
          </a:xfrm>
          <a:prstGeom prst="rect">
            <a:avLst/>
          </a:prstGeom>
          <a:noFill/>
        </p:spPr>
        <p:txBody>
          <a:bodyPr wrap="square">
            <a:spAutoFit/>
          </a:bodyPr>
          <a:lstStyle/>
          <a:p>
            <a:pPr algn="ctr"/>
            <a:r>
              <a:rPr sz="1000" b="0" i="0">
                <a:solidFill>
                  <a:srgbClr val="000000"/>
                </a:solidFill>
              </a:rPr>
              <a:t>30 epochs, Tesla T4</a:t>
            </a:r>
          </a:p>
        </p:txBody>
      </p:sp>
      <p:sp>
        <p:nvSpPr>
          <p:cNvPr id="23" name="Rectangle 22"/>
          <p:cNvSpPr/>
          <p:nvPr/>
        </p:nvSpPr>
        <p:spPr>
          <a:xfrm>
            <a:off x="5998464" y="5577840"/>
            <a:ext cx="1920240" cy="822960"/>
          </a:xfrm>
          <a:prstGeom prst="rect">
            <a:avLst/>
          </a:prstGeom>
          <a:solidFill>
            <a:srgbClr val="E0F0F0"/>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44184" y="5596128"/>
            <a:ext cx="1920240" cy="274320"/>
          </a:xfrm>
          <a:prstGeom prst="rect">
            <a:avLst/>
          </a:prstGeom>
          <a:noFill/>
        </p:spPr>
        <p:txBody>
          <a:bodyPr wrap="square">
            <a:spAutoFit/>
          </a:bodyPr>
          <a:lstStyle/>
          <a:p>
            <a:pPr algn="ctr"/>
            <a:r>
              <a:rPr sz="900" b="1" i="0">
                <a:solidFill>
                  <a:srgbClr val="007070"/>
                </a:solidFill>
              </a:rPr>
              <a:t>Dataset</a:t>
            </a:r>
          </a:p>
        </p:txBody>
      </p:sp>
      <p:sp>
        <p:nvSpPr>
          <p:cNvPr id="25" name="TextBox 24"/>
          <p:cNvSpPr txBox="1"/>
          <p:nvPr/>
        </p:nvSpPr>
        <p:spPr>
          <a:xfrm>
            <a:off x="6044184" y="5870448"/>
            <a:ext cx="1920240" cy="320040"/>
          </a:xfrm>
          <a:prstGeom prst="rect">
            <a:avLst/>
          </a:prstGeom>
          <a:noFill/>
        </p:spPr>
        <p:txBody>
          <a:bodyPr wrap="square">
            <a:spAutoFit/>
          </a:bodyPr>
          <a:lstStyle/>
          <a:p>
            <a:pPr algn="ctr"/>
            <a:r>
              <a:rPr sz="1000" b="0" i="0">
                <a:solidFill>
                  <a:srgbClr val="000000"/>
                </a:solidFill>
              </a:rPr>
              <a:t>6,000 BDD100K imgs</a:t>
            </a:r>
          </a:p>
        </p:txBody>
      </p:sp>
      <p:sp>
        <p:nvSpPr>
          <p:cNvPr id="26" name="Rectangle 25"/>
          <p:cNvSpPr/>
          <p:nvPr/>
        </p:nvSpPr>
        <p:spPr>
          <a:xfrm>
            <a:off x="7936992" y="5577840"/>
            <a:ext cx="1920240" cy="822960"/>
          </a:xfrm>
          <a:prstGeom prst="rect">
            <a:avLst/>
          </a:prstGeom>
          <a:solidFill>
            <a:srgbClr val="E0F0F0"/>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82712" y="5596128"/>
            <a:ext cx="1920240" cy="274320"/>
          </a:xfrm>
          <a:prstGeom prst="rect">
            <a:avLst/>
          </a:prstGeom>
          <a:noFill/>
        </p:spPr>
        <p:txBody>
          <a:bodyPr wrap="square">
            <a:spAutoFit/>
          </a:bodyPr>
          <a:lstStyle/>
          <a:p>
            <a:pPr algn="ctr"/>
            <a:r>
              <a:rPr sz="900" b="1" i="0">
                <a:solidFill>
                  <a:srgbClr val="007070"/>
                </a:solidFill>
              </a:rPr>
              <a:t>Tracker</a:t>
            </a:r>
          </a:p>
        </p:txBody>
      </p:sp>
      <p:sp>
        <p:nvSpPr>
          <p:cNvPr id="28" name="TextBox 27"/>
          <p:cNvSpPr txBox="1"/>
          <p:nvPr/>
        </p:nvSpPr>
        <p:spPr>
          <a:xfrm>
            <a:off x="7982712" y="5870448"/>
            <a:ext cx="1920240" cy="320040"/>
          </a:xfrm>
          <a:prstGeom prst="rect">
            <a:avLst/>
          </a:prstGeom>
          <a:noFill/>
        </p:spPr>
        <p:txBody>
          <a:bodyPr wrap="square">
            <a:spAutoFit/>
          </a:bodyPr>
          <a:lstStyle/>
          <a:p>
            <a:pPr algn="ctr"/>
            <a:r>
              <a:rPr sz="1000" b="0" i="0">
                <a:solidFill>
                  <a:srgbClr val="000000"/>
                </a:solidFill>
              </a:rPr>
              <a:t>SORT + Kalman Filter</a:t>
            </a:r>
          </a:p>
        </p:txBody>
      </p:sp>
      <p:sp>
        <p:nvSpPr>
          <p:cNvPr id="29" name="Rectangle 28"/>
          <p:cNvSpPr/>
          <p:nvPr/>
        </p:nvSpPr>
        <p:spPr>
          <a:xfrm>
            <a:off x="9875520" y="5577840"/>
            <a:ext cx="1920240" cy="822960"/>
          </a:xfrm>
          <a:prstGeom prst="rect">
            <a:avLst/>
          </a:prstGeom>
          <a:solidFill>
            <a:srgbClr val="E0F0F0"/>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21240" y="5596128"/>
            <a:ext cx="1920240" cy="274320"/>
          </a:xfrm>
          <a:prstGeom prst="rect">
            <a:avLst/>
          </a:prstGeom>
          <a:noFill/>
        </p:spPr>
        <p:txBody>
          <a:bodyPr wrap="square">
            <a:spAutoFit/>
          </a:bodyPr>
          <a:lstStyle/>
          <a:p>
            <a:pPr algn="ctr"/>
            <a:r>
              <a:rPr sz="900" b="1" i="0">
                <a:solidFill>
                  <a:srgbClr val="007070"/>
                </a:solidFill>
              </a:rPr>
              <a:t>IoU thresh</a:t>
            </a:r>
          </a:p>
        </p:txBody>
      </p:sp>
      <p:sp>
        <p:nvSpPr>
          <p:cNvPr id="31" name="TextBox 30"/>
          <p:cNvSpPr txBox="1"/>
          <p:nvPr/>
        </p:nvSpPr>
        <p:spPr>
          <a:xfrm>
            <a:off x="9921240" y="5870448"/>
            <a:ext cx="1920240" cy="320040"/>
          </a:xfrm>
          <a:prstGeom prst="rect">
            <a:avLst/>
          </a:prstGeom>
          <a:noFill/>
        </p:spPr>
        <p:txBody>
          <a:bodyPr wrap="square">
            <a:spAutoFit/>
          </a:bodyPr>
          <a:lstStyle/>
          <a:p>
            <a:pPr algn="ctr"/>
            <a:r>
              <a:rPr sz="1000" b="0" i="0">
                <a:solidFill>
                  <a:srgbClr val="000000"/>
                </a:solidFill>
              </a:rPr>
              <a:t>0.3  |  max_age=1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10058400" cy="411480"/>
          </a:xfrm>
          <a:prstGeom prst="rect">
            <a:avLst/>
          </a:prstGeom>
          <a:noFill/>
        </p:spPr>
        <p:txBody>
          <a:bodyPr wrap="square">
            <a:spAutoFit/>
          </a:bodyPr>
          <a:lstStyle/>
          <a:p>
            <a:pPr algn="ctr"/>
            <a:r>
              <a:rPr sz="1600" b="0" i="0">
                <a:solidFill>
                  <a:srgbClr val="FFFFFF"/>
                </a:solidFill>
              </a:rPr>
              <a:t>INDIAN INSTITUTE OF TECHNOLOGY ROORKEE</a:t>
            </a:r>
          </a:p>
        </p:txBody>
      </p:sp>
      <p:sp>
        <p:nvSpPr>
          <p:cNvPr id="5" name="TextBox 4"/>
          <p:cNvSpPr txBox="1"/>
          <p:nvPr/>
        </p:nvSpPr>
        <p:spPr>
          <a:xfrm>
            <a:off x="274320" y="594360"/>
            <a:ext cx="11430000" cy="502920"/>
          </a:xfrm>
          <a:prstGeom prst="rect">
            <a:avLst/>
          </a:prstGeom>
          <a:noFill/>
        </p:spPr>
        <p:txBody>
          <a:bodyPr wrap="square">
            <a:spAutoFit/>
          </a:bodyPr>
          <a:lstStyle/>
          <a:p>
            <a:pPr algn="l"/>
            <a:r>
              <a:rPr sz="2800" b="1" i="0">
                <a:solidFill>
                  <a:srgbClr val="000000"/>
                </a:solidFill>
              </a:rPr>
              <a:t>RESULTS &amp; DISCUSSION — VEHICLE DYNAMICS &amp; ABS SIMULATION</a:t>
            </a:r>
          </a:p>
        </p:txBody>
      </p:sp>
      <p:sp>
        <p:nvSpPr>
          <p:cNvPr id="6" name="Rectangle 5"/>
          <p:cNvSpPr/>
          <p:nvPr/>
        </p:nvSpPr>
        <p:spPr>
          <a:xfrm>
            <a:off x="274320" y="1115568"/>
            <a:ext cx="11612880" cy="36576"/>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56248"/>
            <a:ext cx="2743200" cy="274320"/>
          </a:xfrm>
          <a:prstGeom prst="rect">
            <a:avLst/>
          </a:prstGeom>
          <a:noFill/>
        </p:spPr>
        <p:txBody>
          <a:bodyPr wrap="square">
            <a:spAutoFit/>
          </a:bodyPr>
          <a:lstStyle/>
          <a:p>
            <a:pPr algn="l"/>
            <a:r>
              <a:rPr sz="1100" b="1" i="0">
                <a:solidFill>
                  <a:srgbClr val="007070"/>
                </a:solidFill>
              </a:rPr>
              <a:t>IIT ROORKEE</a:t>
            </a:r>
          </a:p>
        </p:txBody>
      </p:sp>
      <p:sp>
        <p:nvSpPr>
          <p:cNvPr id="9" name="TextBox 8"/>
          <p:cNvSpPr txBox="1"/>
          <p:nvPr/>
        </p:nvSpPr>
        <p:spPr>
          <a:xfrm>
            <a:off x="11640312" y="6556248"/>
            <a:ext cx="457200" cy="274320"/>
          </a:xfrm>
          <a:prstGeom prst="rect">
            <a:avLst/>
          </a:prstGeom>
          <a:noFill/>
        </p:spPr>
        <p:txBody>
          <a:bodyPr wrap="square">
            <a:spAutoFit/>
          </a:bodyPr>
          <a:lstStyle/>
          <a:p>
            <a:pPr algn="r"/>
            <a:r>
              <a:rPr sz="1100" b="1" i="0">
                <a:solidFill>
                  <a:srgbClr val="007070"/>
                </a:solidFill>
              </a:rPr>
              <a:t>5</a:t>
            </a:r>
          </a:p>
        </p:txBody>
      </p:sp>
      <p:sp>
        <p:nvSpPr>
          <p:cNvPr id="10" name="Rectangle 9"/>
          <p:cNvSpPr/>
          <p:nvPr/>
        </p:nvSpPr>
        <p:spPr>
          <a:xfrm>
            <a:off x="2834640" y="6611112"/>
            <a:ext cx="164592" cy="1645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35808" y="661111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6976" y="6611112"/>
            <a:ext cx="164592" cy="164592"/>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182880" y="1234440"/>
            <a:ext cx="11795760" cy="4206240"/>
          </a:xfrm>
          <a:prstGeom prst="rect">
            <a:avLst/>
          </a:prstGeom>
        </p:spPr>
      </p:pic>
      <p:sp>
        <p:nvSpPr>
          <p:cNvPr id="14" name="Rectangle 13"/>
          <p:cNvSpPr/>
          <p:nvPr/>
        </p:nvSpPr>
        <p:spPr>
          <a:xfrm>
            <a:off x="182880" y="5577840"/>
            <a:ext cx="1920240" cy="822960"/>
          </a:xfrm>
          <a:prstGeom prst="rect">
            <a:avLst/>
          </a:prstGeom>
          <a:solidFill>
            <a:srgbClr val="F0E8E8"/>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 y="5596128"/>
            <a:ext cx="1920240" cy="274320"/>
          </a:xfrm>
          <a:prstGeom prst="rect">
            <a:avLst/>
          </a:prstGeom>
          <a:noFill/>
        </p:spPr>
        <p:txBody>
          <a:bodyPr wrap="square">
            <a:spAutoFit/>
          </a:bodyPr>
          <a:lstStyle/>
          <a:p>
            <a:pPr algn="ctr"/>
            <a:r>
              <a:rPr sz="900" b="1" i="0">
                <a:solidFill>
                  <a:srgbClr val="C00000"/>
                </a:solidFill>
              </a:rPr>
              <a:t>50 km/h Dry</a:t>
            </a:r>
          </a:p>
        </p:txBody>
      </p:sp>
      <p:sp>
        <p:nvSpPr>
          <p:cNvPr id="16" name="TextBox 15"/>
          <p:cNvSpPr txBox="1"/>
          <p:nvPr/>
        </p:nvSpPr>
        <p:spPr>
          <a:xfrm>
            <a:off x="228600" y="5870448"/>
            <a:ext cx="1920240" cy="320040"/>
          </a:xfrm>
          <a:prstGeom prst="rect">
            <a:avLst/>
          </a:prstGeom>
          <a:noFill/>
        </p:spPr>
        <p:txBody>
          <a:bodyPr wrap="square">
            <a:spAutoFit/>
          </a:bodyPr>
          <a:lstStyle/>
          <a:p>
            <a:pPr algn="ctr"/>
            <a:r>
              <a:rPr sz="900" b="0" i="0">
                <a:solidFill>
                  <a:srgbClr val="000000"/>
                </a:solidFill>
              </a:rPr>
              <a:t>16.2 m  ✓ (ref: 13-22 m)</a:t>
            </a:r>
          </a:p>
        </p:txBody>
      </p:sp>
      <p:sp>
        <p:nvSpPr>
          <p:cNvPr id="17" name="Rectangle 16"/>
          <p:cNvSpPr/>
          <p:nvPr/>
        </p:nvSpPr>
        <p:spPr>
          <a:xfrm>
            <a:off x="2121408" y="5577840"/>
            <a:ext cx="1920240" cy="822960"/>
          </a:xfrm>
          <a:prstGeom prst="rect">
            <a:avLst/>
          </a:prstGeom>
          <a:solidFill>
            <a:srgbClr val="F0E8E8"/>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7128" y="5596128"/>
            <a:ext cx="1920240" cy="274320"/>
          </a:xfrm>
          <a:prstGeom prst="rect">
            <a:avLst/>
          </a:prstGeom>
          <a:noFill/>
        </p:spPr>
        <p:txBody>
          <a:bodyPr wrap="square">
            <a:spAutoFit/>
          </a:bodyPr>
          <a:lstStyle/>
          <a:p>
            <a:pPr algn="ctr"/>
            <a:r>
              <a:rPr sz="900" b="1" i="0">
                <a:solidFill>
                  <a:srgbClr val="C00000"/>
                </a:solidFill>
              </a:rPr>
              <a:t>50 km/h Ice</a:t>
            </a:r>
          </a:p>
        </p:txBody>
      </p:sp>
      <p:sp>
        <p:nvSpPr>
          <p:cNvPr id="19" name="TextBox 18"/>
          <p:cNvSpPr txBox="1"/>
          <p:nvPr/>
        </p:nvSpPr>
        <p:spPr>
          <a:xfrm>
            <a:off x="2167128" y="5870448"/>
            <a:ext cx="1920240" cy="320040"/>
          </a:xfrm>
          <a:prstGeom prst="rect">
            <a:avLst/>
          </a:prstGeom>
          <a:noFill/>
        </p:spPr>
        <p:txBody>
          <a:bodyPr wrap="square">
            <a:spAutoFit/>
          </a:bodyPr>
          <a:lstStyle/>
          <a:p>
            <a:pPr algn="ctr"/>
            <a:r>
              <a:rPr sz="900" b="0" i="0">
                <a:solidFill>
                  <a:srgbClr val="000000"/>
                </a:solidFill>
              </a:rPr>
              <a:t>145 m  ✓ (ref: 60-150 m)</a:t>
            </a:r>
          </a:p>
        </p:txBody>
      </p:sp>
      <p:sp>
        <p:nvSpPr>
          <p:cNvPr id="20" name="Rectangle 19"/>
          <p:cNvSpPr/>
          <p:nvPr/>
        </p:nvSpPr>
        <p:spPr>
          <a:xfrm>
            <a:off x="4059936" y="5577840"/>
            <a:ext cx="1920240" cy="822960"/>
          </a:xfrm>
          <a:prstGeom prst="rect">
            <a:avLst/>
          </a:prstGeom>
          <a:solidFill>
            <a:srgbClr val="F0E8E8"/>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6" y="5596128"/>
            <a:ext cx="1920240" cy="274320"/>
          </a:xfrm>
          <a:prstGeom prst="rect">
            <a:avLst/>
          </a:prstGeom>
          <a:noFill/>
        </p:spPr>
        <p:txBody>
          <a:bodyPr wrap="square">
            <a:spAutoFit/>
          </a:bodyPr>
          <a:lstStyle/>
          <a:p>
            <a:pPr algn="ctr"/>
            <a:r>
              <a:rPr sz="900" b="1" i="0">
                <a:solidFill>
                  <a:srgbClr val="C00000"/>
                </a:solidFill>
              </a:rPr>
              <a:t>100 km/h Dry</a:t>
            </a:r>
          </a:p>
        </p:txBody>
      </p:sp>
      <p:sp>
        <p:nvSpPr>
          <p:cNvPr id="22" name="TextBox 21"/>
          <p:cNvSpPr txBox="1"/>
          <p:nvPr/>
        </p:nvSpPr>
        <p:spPr>
          <a:xfrm>
            <a:off x="4105656" y="5870448"/>
            <a:ext cx="1920240" cy="320040"/>
          </a:xfrm>
          <a:prstGeom prst="rect">
            <a:avLst/>
          </a:prstGeom>
          <a:noFill/>
        </p:spPr>
        <p:txBody>
          <a:bodyPr wrap="square">
            <a:spAutoFit/>
          </a:bodyPr>
          <a:lstStyle/>
          <a:p>
            <a:pPr algn="ctr"/>
            <a:r>
              <a:rPr sz="900" b="0" i="0">
                <a:solidFill>
                  <a:srgbClr val="000000"/>
                </a:solidFill>
              </a:rPr>
              <a:t>57.8 m  ✓ (ref: 45-75 m)</a:t>
            </a:r>
          </a:p>
        </p:txBody>
      </p:sp>
      <p:sp>
        <p:nvSpPr>
          <p:cNvPr id="23" name="Rectangle 22"/>
          <p:cNvSpPr/>
          <p:nvPr/>
        </p:nvSpPr>
        <p:spPr>
          <a:xfrm>
            <a:off x="5998464" y="5577840"/>
            <a:ext cx="1920240" cy="822960"/>
          </a:xfrm>
          <a:prstGeom prst="rect">
            <a:avLst/>
          </a:prstGeom>
          <a:solidFill>
            <a:srgbClr val="F0E8E8"/>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44184" y="5596128"/>
            <a:ext cx="1920240" cy="274320"/>
          </a:xfrm>
          <a:prstGeom prst="rect">
            <a:avLst/>
          </a:prstGeom>
          <a:noFill/>
        </p:spPr>
        <p:txBody>
          <a:bodyPr wrap="square">
            <a:spAutoFit/>
          </a:bodyPr>
          <a:lstStyle/>
          <a:p>
            <a:pPr algn="ctr"/>
            <a:r>
              <a:rPr sz="900" b="1" i="0">
                <a:solidFill>
                  <a:srgbClr val="C00000"/>
                </a:solidFill>
              </a:rPr>
              <a:t>ABS Gain (Dry)</a:t>
            </a:r>
          </a:p>
        </p:txBody>
      </p:sp>
      <p:sp>
        <p:nvSpPr>
          <p:cNvPr id="25" name="TextBox 24"/>
          <p:cNvSpPr txBox="1"/>
          <p:nvPr/>
        </p:nvSpPr>
        <p:spPr>
          <a:xfrm>
            <a:off x="6044184" y="5870448"/>
            <a:ext cx="1920240" cy="320040"/>
          </a:xfrm>
          <a:prstGeom prst="rect">
            <a:avLst/>
          </a:prstGeom>
          <a:noFill/>
        </p:spPr>
        <p:txBody>
          <a:bodyPr wrap="square">
            <a:spAutoFit/>
          </a:bodyPr>
          <a:lstStyle/>
          <a:p>
            <a:pPr algn="ctr"/>
            <a:r>
              <a:rPr sz="900" b="0" i="0">
                <a:solidFill>
                  <a:srgbClr val="000000"/>
                </a:solidFill>
              </a:rPr>
              <a:t>~25% shorter stop dist.</a:t>
            </a:r>
          </a:p>
        </p:txBody>
      </p:sp>
      <p:sp>
        <p:nvSpPr>
          <p:cNvPr id="26" name="Rectangle 25"/>
          <p:cNvSpPr/>
          <p:nvPr/>
        </p:nvSpPr>
        <p:spPr>
          <a:xfrm>
            <a:off x="7936992" y="5577840"/>
            <a:ext cx="1920240" cy="822960"/>
          </a:xfrm>
          <a:prstGeom prst="rect">
            <a:avLst/>
          </a:prstGeom>
          <a:solidFill>
            <a:srgbClr val="F0E8E8"/>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82712" y="5596128"/>
            <a:ext cx="1920240" cy="274320"/>
          </a:xfrm>
          <a:prstGeom prst="rect">
            <a:avLst/>
          </a:prstGeom>
          <a:noFill/>
        </p:spPr>
        <p:txBody>
          <a:bodyPr wrap="square">
            <a:spAutoFit/>
          </a:bodyPr>
          <a:lstStyle/>
          <a:p>
            <a:pPr algn="ctr"/>
            <a:r>
              <a:rPr sz="900" b="1" i="0">
                <a:solidFill>
                  <a:srgbClr val="C00000"/>
                </a:solidFill>
              </a:rPr>
              <a:t>Timestep</a:t>
            </a:r>
          </a:p>
        </p:txBody>
      </p:sp>
      <p:sp>
        <p:nvSpPr>
          <p:cNvPr id="28" name="TextBox 27"/>
          <p:cNvSpPr txBox="1"/>
          <p:nvPr/>
        </p:nvSpPr>
        <p:spPr>
          <a:xfrm>
            <a:off x="7982712" y="5870448"/>
            <a:ext cx="1920240" cy="320040"/>
          </a:xfrm>
          <a:prstGeom prst="rect">
            <a:avLst/>
          </a:prstGeom>
          <a:noFill/>
        </p:spPr>
        <p:txBody>
          <a:bodyPr wrap="square">
            <a:spAutoFit/>
          </a:bodyPr>
          <a:lstStyle/>
          <a:p>
            <a:pPr algn="ctr"/>
            <a:r>
              <a:rPr sz="900" b="0" i="0">
                <a:solidFill>
                  <a:srgbClr val="000000"/>
                </a:solidFill>
              </a:rPr>
              <a:t>1 ms Euler integration</a:t>
            </a:r>
          </a:p>
        </p:txBody>
      </p:sp>
      <p:sp>
        <p:nvSpPr>
          <p:cNvPr id="29" name="Rectangle 28"/>
          <p:cNvSpPr/>
          <p:nvPr/>
        </p:nvSpPr>
        <p:spPr>
          <a:xfrm>
            <a:off x="9875520" y="5577840"/>
            <a:ext cx="1920240" cy="822960"/>
          </a:xfrm>
          <a:prstGeom prst="rect">
            <a:avLst/>
          </a:prstGeom>
          <a:solidFill>
            <a:srgbClr val="F0E8E8"/>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21240" y="5596128"/>
            <a:ext cx="1920240" cy="274320"/>
          </a:xfrm>
          <a:prstGeom prst="rect">
            <a:avLst/>
          </a:prstGeom>
          <a:noFill/>
        </p:spPr>
        <p:txBody>
          <a:bodyPr wrap="square">
            <a:spAutoFit/>
          </a:bodyPr>
          <a:lstStyle/>
          <a:p>
            <a:pPr algn="ctr"/>
            <a:r>
              <a:rPr sz="900" b="1" i="0">
                <a:solidFill>
                  <a:srgbClr val="C00000"/>
                </a:solidFill>
              </a:rPr>
              <a:t>Forces</a:t>
            </a:r>
          </a:p>
        </p:txBody>
      </p:sp>
      <p:sp>
        <p:nvSpPr>
          <p:cNvPr id="31" name="TextBox 30"/>
          <p:cNvSpPr txBox="1"/>
          <p:nvPr/>
        </p:nvSpPr>
        <p:spPr>
          <a:xfrm>
            <a:off x="9921240" y="5870448"/>
            <a:ext cx="1920240" cy="320040"/>
          </a:xfrm>
          <a:prstGeom prst="rect">
            <a:avLst/>
          </a:prstGeom>
          <a:noFill/>
        </p:spPr>
        <p:txBody>
          <a:bodyPr wrap="square">
            <a:spAutoFit/>
          </a:bodyPr>
          <a:lstStyle/>
          <a:p>
            <a:pPr algn="ctr"/>
            <a:r>
              <a:rPr sz="900" b="0" i="0">
                <a:solidFill>
                  <a:srgbClr val="000000"/>
                </a:solidFill>
              </a:rPr>
              <a:t>Pacejka+Aero+Roll+Grade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10058400" cy="411480"/>
          </a:xfrm>
          <a:prstGeom prst="rect">
            <a:avLst/>
          </a:prstGeom>
          <a:noFill/>
        </p:spPr>
        <p:txBody>
          <a:bodyPr wrap="square">
            <a:spAutoFit/>
          </a:bodyPr>
          <a:lstStyle/>
          <a:p>
            <a:pPr algn="ctr"/>
            <a:r>
              <a:rPr sz="1600" b="0" i="0">
                <a:solidFill>
                  <a:srgbClr val="FFFFFF"/>
                </a:solidFill>
              </a:rPr>
              <a:t>INDIAN INSTITUTE OF TECHNOLOGY ROORKEE</a:t>
            </a:r>
          </a:p>
        </p:txBody>
      </p:sp>
      <p:sp>
        <p:nvSpPr>
          <p:cNvPr id="5" name="TextBox 4"/>
          <p:cNvSpPr txBox="1"/>
          <p:nvPr/>
        </p:nvSpPr>
        <p:spPr>
          <a:xfrm>
            <a:off x="274320" y="594360"/>
            <a:ext cx="11430000" cy="502920"/>
          </a:xfrm>
          <a:prstGeom prst="rect">
            <a:avLst/>
          </a:prstGeom>
          <a:noFill/>
        </p:spPr>
        <p:txBody>
          <a:bodyPr wrap="square">
            <a:spAutoFit/>
          </a:bodyPr>
          <a:lstStyle/>
          <a:p>
            <a:pPr algn="l"/>
            <a:r>
              <a:rPr sz="2800" b="1" i="0">
                <a:solidFill>
                  <a:srgbClr val="000000"/>
                </a:solidFill>
              </a:rPr>
              <a:t>RESULTS &amp; DISCUSSION — BRAKE THERMODYNAMICS &amp; ADAPTIVE AEB</a:t>
            </a:r>
          </a:p>
        </p:txBody>
      </p:sp>
      <p:sp>
        <p:nvSpPr>
          <p:cNvPr id="6" name="Rectangle 5"/>
          <p:cNvSpPr/>
          <p:nvPr/>
        </p:nvSpPr>
        <p:spPr>
          <a:xfrm>
            <a:off x="274320" y="1115568"/>
            <a:ext cx="11612880" cy="36576"/>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56248"/>
            <a:ext cx="2743200" cy="274320"/>
          </a:xfrm>
          <a:prstGeom prst="rect">
            <a:avLst/>
          </a:prstGeom>
          <a:noFill/>
        </p:spPr>
        <p:txBody>
          <a:bodyPr wrap="square">
            <a:spAutoFit/>
          </a:bodyPr>
          <a:lstStyle/>
          <a:p>
            <a:pPr algn="l"/>
            <a:r>
              <a:rPr sz="1100" b="1" i="0">
                <a:solidFill>
                  <a:srgbClr val="007070"/>
                </a:solidFill>
              </a:rPr>
              <a:t>IIT ROORKEE</a:t>
            </a:r>
          </a:p>
        </p:txBody>
      </p:sp>
      <p:sp>
        <p:nvSpPr>
          <p:cNvPr id="9" name="TextBox 8"/>
          <p:cNvSpPr txBox="1"/>
          <p:nvPr/>
        </p:nvSpPr>
        <p:spPr>
          <a:xfrm>
            <a:off x="11640312" y="6556248"/>
            <a:ext cx="457200" cy="274320"/>
          </a:xfrm>
          <a:prstGeom prst="rect">
            <a:avLst/>
          </a:prstGeom>
          <a:noFill/>
        </p:spPr>
        <p:txBody>
          <a:bodyPr wrap="square">
            <a:spAutoFit/>
          </a:bodyPr>
          <a:lstStyle/>
          <a:p>
            <a:pPr algn="r"/>
            <a:r>
              <a:rPr sz="1100" b="1" i="0">
                <a:solidFill>
                  <a:srgbClr val="007070"/>
                </a:solidFill>
              </a:rPr>
              <a:t>6</a:t>
            </a:r>
          </a:p>
        </p:txBody>
      </p:sp>
      <p:sp>
        <p:nvSpPr>
          <p:cNvPr id="10" name="Rectangle 9"/>
          <p:cNvSpPr/>
          <p:nvPr/>
        </p:nvSpPr>
        <p:spPr>
          <a:xfrm>
            <a:off x="2834640" y="6611112"/>
            <a:ext cx="164592" cy="1645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35808" y="661111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6976" y="6611112"/>
            <a:ext cx="164592" cy="164592"/>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182880" y="1234440"/>
            <a:ext cx="11795760" cy="3017520"/>
          </a:xfrm>
          <a:prstGeom prst="rect">
            <a:avLst/>
          </a:prstGeom>
        </p:spPr>
      </p:pic>
      <p:pic>
        <p:nvPicPr>
          <p:cNvPr id="14" name="Picture 13" descr="image.png"/>
          <p:cNvPicPr>
            <a:picLocks noChangeAspect="1"/>
          </p:cNvPicPr>
          <p:nvPr/>
        </p:nvPicPr>
        <p:blipFill>
          <a:blip r:embed="rId3"/>
          <a:stretch>
            <a:fillRect/>
          </a:stretch>
        </p:blipFill>
        <p:spPr>
          <a:xfrm>
            <a:off x="182880" y="4297680"/>
            <a:ext cx="11795760" cy="2286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10058400" cy="411480"/>
          </a:xfrm>
          <a:prstGeom prst="rect">
            <a:avLst/>
          </a:prstGeom>
          <a:noFill/>
        </p:spPr>
        <p:txBody>
          <a:bodyPr wrap="square">
            <a:spAutoFit/>
          </a:bodyPr>
          <a:lstStyle/>
          <a:p>
            <a:pPr algn="ctr"/>
            <a:r>
              <a:rPr sz="1600" b="0" i="0">
                <a:solidFill>
                  <a:srgbClr val="FFFFFF"/>
                </a:solidFill>
              </a:rPr>
              <a:t>INDIAN INSTITUTE OF TECHNOLOGY ROORKEE</a:t>
            </a:r>
          </a:p>
        </p:txBody>
      </p:sp>
      <p:sp>
        <p:nvSpPr>
          <p:cNvPr id="5" name="TextBox 4"/>
          <p:cNvSpPr txBox="1"/>
          <p:nvPr/>
        </p:nvSpPr>
        <p:spPr>
          <a:xfrm>
            <a:off x="274320" y="594360"/>
            <a:ext cx="11430000" cy="502920"/>
          </a:xfrm>
          <a:prstGeom prst="rect">
            <a:avLst/>
          </a:prstGeom>
          <a:noFill/>
        </p:spPr>
        <p:txBody>
          <a:bodyPr wrap="square">
            <a:spAutoFit/>
          </a:bodyPr>
          <a:lstStyle/>
          <a:p>
            <a:pPr algn="l"/>
            <a:r>
              <a:rPr sz="2800" b="1" i="0">
                <a:solidFill>
                  <a:srgbClr val="000000"/>
                </a:solidFill>
              </a:rPr>
              <a:t>RESULTS &amp; DISCUSSION — IMPACT BIOMECHANICS &amp; WEATHER ADAPTATION</a:t>
            </a:r>
          </a:p>
        </p:txBody>
      </p:sp>
      <p:sp>
        <p:nvSpPr>
          <p:cNvPr id="6" name="Rectangle 5"/>
          <p:cNvSpPr/>
          <p:nvPr/>
        </p:nvSpPr>
        <p:spPr>
          <a:xfrm>
            <a:off x="274320" y="1115568"/>
            <a:ext cx="11612880" cy="36576"/>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56248"/>
            <a:ext cx="2743200" cy="274320"/>
          </a:xfrm>
          <a:prstGeom prst="rect">
            <a:avLst/>
          </a:prstGeom>
          <a:noFill/>
        </p:spPr>
        <p:txBody>
          <a:bodyPr wrap="square">
            <a:spAutoFit/>
          </a:bodyPr>
          <a:lstStyle/>
          <a:p>
            <a:pPr algn="l"/>
            <a:r>
              <a:rPr sz="1100" b="1" i="0">
                <a:solidFill>
                  <a:srgbClr val="007070"/>
                </a:solidFill>
              </a:rPr>
              <a:t>IIT ROORKEE</a:t>
            </a:r>
          </a:p>
        </p:txBody>
      </p:sp>
      <p:sp>
        <p:nvSpPr>
          <p:cNvPr id="9" name="TextBox 8"/>
          <p:cNvSpPr txBox="1"/>
          <p:nvPr/>
        </p:nvSpPr>
        <p:spPr>
          <a:xfrm>
            <a:off x="11640312" y="6556248"/>
            <a:ext cx="457200" cy="274320"/>
          </a:xfrm>
          <a:prstGeom prst="rect">
            <a:avLst/>
          </a:prstGeom>
          <a:noFill/>
        </p:spPr>
        <p:txBody>
          <a:bodyPr wrap="square">
            <a:spAutoFit/>
          </a:bodyPr>
          <a:lstStyle/>
          <a:p>
            <a:pPr algn="r"/>
            <a:r>
              <a:rPr sz="1100" b="1" i="0">
                <a:solidFill>
                  <a:srgbClr val="007070"/>
                </a:solidFill>
              </a:rPr>
              <a:t>7</a:t>
            </a:r>
          </a:p>
        </p:txBody>
      </p:sp>
      <p:sp>
        <p:nvSpPr>
          <p:cNvPr id="10" name="Rectangle 9"/>
          <p:cNvSpPr/>
          <p:nvPr/>
        </p:nvSpPr>
        <p:spPr>
          <a:xfrm>
            <a:off x="2834640" y="6611112"/>
            <a:ext cx="164592" cy="1645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35808" y="661111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6976" y="6611112"/>
            <a:ext cx="164592" cy="164592"/>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182880" y="1234440"/>
            <a:ext cx="11795760" cy="3017520"/>
          </a:xfrm>
          <a:prstGeom prst="rect">
            <a:avLst/>
          </a:prstGeom>
        </p:spPr>
      </p:pic>
      <p:pic>
        <p:nvPicPr>
          <p:cNvPr id="14" name="Picture 13" descr="image.png"/>
          <p:cNvPicPr>
            <a:picLocks noChangeAspect="1"/>
          </p:cNvPicPr>
          <p:nvPr/>
        </p:nvPicPr>
        <p:blipFill>
          <a:blip r:embed="rId3"/>
          <a:stretch>
            <a:fillRect/>
          </a:stretch>
        </p:blipFill>
        <p:spPr>
          <a:xfrm>
            <a:off x="182880" y="4297680"/>
            <a:ext cx="11795760" cy="2286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10058400" cy="411480"/>
          </a:xfrm>
          <a:prstGeom prst="rect">
            <a:avLst/>
          </a:prstGeom>
          <a:noFill/>
        </p:spPr>
        <p:txBody>
          <a:bodyPr wrap="square">
            <a:spAutoFit/>
          </a:bodyPr>
          <a:lstStyle/>
          <a:p>
            <a:pPr algn="ctr"/>
            <a:r>
              <a:rPr sz="1600" b="0" i="0">
                <a:solidFill>
                  <a:srgbClr val="FFFFFF"/>
                </a:solidFill>
              </a:rPr>
              <a:t>INDIAN INSTITUTE OF TECHNOLOGY ROORKEE</a:t>
            </a:r>
          </a:p>
        </p:txBody>
      </p:sp>
      <p:sp>
        <p:nvSpPr>
          <p:cNvPr id="5" name="TextBox 4"/>
          <p:cNvSpPr txBox="1"/>
          <p:nvPr/>
        </p:nvSpPr>
        <p:spPr>
          <a:xfrm>
            <a:off x="274320" y="594360"/>
            <a:ext cx="11430000" cy="502920"/>
          </a:xfrm>
          <a:prstGeom prst="rect">
            <a:avLst/>
          </a:prstGeom>
          <a:noFill/>
        </p:spPr>
        <p:txBody>
          <a:bodyPr wrap="square">
            <a:spAutoFit/>
          </a:bodyPr>
          <a:lstStyle/>
          <a:p>
            <a:pPr algn="l"/>
            <a:r>
              <a:rPr sz="2800" b="1" i="0">
                <a:solidFill>
                  <a:srgbClr val="000000"/>
                </a:solidFill>
              </a:rPr>
              <a:t>RESULTS &amp; DISCUSSION — EURO NCAP VALIDATION &amp; SYSTEM PIPELINE</a:t>
            </a:r>
          </a:p>
        </p:txBody>
      </p:sp>
      <p:sp>
        <p:nvSpPr>
          <p:cNvPr id="6" name="Rectangle 5"/>
          <p:cNvSpPr/>
          <p:nvPr/>
        </p:nvSpPr>
        <p:spPr>
          <a:xfrm>
            <a:off x="274320" y="1115568"/>
            <a:ext cx="11612880" cy="36576"/>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56248"/>
            <a:ext cx="2743200" cy="274320"/>
          </a:xfrm>
          <a:prstGeom prst="rect">
            <a:avLst/>
          </a:prstGeom>
          <a:noFill/>
        </p:spPr>
        <p:txBody>
          <a:bodyPr wrap="square">
            <a:spAutoFit/>
          </a:bodyPr>
          <a:lstStyle/>
          <a:p>
            <a:pPr algn="l"/>
            <a:r>
              <a:rPr sz="1100" b="1" i="0">
                <a:solidFill>
                  <a:srgbClr val="007070"/>
                </a:solidFill>
              </a:rPr>
              <a:t>IIT ROORKEE</a:t>
            </a:r>
          </a:p>
        </p:txBody>
      </p:sp>
      <p:sp>
        <p:nvSpPr>
          <p:cNvPr id="9" name="TextBox 8"/>
          <p:cNvSpPr txBox="1"/>
          <p:nvPr/>
        </p:nvSpPr>
        <p:spPr>
          <a:xfrm>
            <a:off x="11640312" y="6556248"/>
            <a:ext cx="457200" cy="274320"/>
          </a:xfrm>
          <a:prstGeom prst="rect">
            <a:avLst/>
          </a:prstGeom>
          <a:noFill/>
        </p:spPr>
        <p:txBody>
          <a:bodyPr wrap="square">
            <a:spAutoFit/>
          </a:bodyPr>
          <a:lstStyle/>
          <a:p>
            <a:pPr algn="r"/>
            <a:r>
              <a:rPr sz="1100" b="1" i="0">
                <a:solidFill>
                  <a:srgbClr val="007070"/>
                </a:solidFill>
              </a:rPr>
              <a:t>8</a:t>
            </a:r>
          </a:p>
        </p:txBody>
      </p:sp>
      <p:sp>
        <p:nvSpPr>
          <p:cNvPr id="10" name="Rectangle 9"/>
          <p:cNvSpPr/>
          <p:nvPr/>
        </p:nvSpPr>
        <p:spPr>
          <a:xfrm>
            <a:off x="2834640" y="6611112"/>
            <a:ext cx="164592" cy="1645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35808" y="661111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6976" y="6611112"/>
            <a:ext cx="164592" cy="164592"/>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182880" y="1234440"/>
            <a:ext cx="11795760" cy="53492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0"/>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10058400" cy="411480"/>
          </a:xfrm>
          <a:prstGeom prst="rect">
            <a:avLst/>
          </a:prstGeom>
          <a:noFill/>
        </p:spPr>
        <p:txBody>
          <a:bodyPr wrap="square">
            <a:spAutoFit/>
          </a:bodyPr>
          <a:lstStyle/>
          <a:p>
            <a:pPr algn="ctr"/>
            <a:r>
              <a:rPr sz="1600" b="0" i="0">
                <a:solidFill>
                  <a:srgbClr val="FFFFFF"/>
                </a:solidFill>
              </a:rPr>
              <a:t>INDIAN INSTITUTE OF TECHNOLOGY ROORKEE</a:t>
            </a:r>
          </a:p>
        </p:txBody>
      </p:sp>
      <p:sp>
        <p:nvSpPr>
          <p:cNvPr id="5" name="TextBox 4"/>
          <p:cNvSpPr txBox="1"/>
          <p:nvPr/>
        </p:nvSpPr>
        <p:spPr>
          <a:xfrm>
            <a:off x="274320" y="594360"/>
            <a:ext cx="11430000" cy="502920"/>
          </a:xfrm>
          <a:prstGeom prst="rect">
            <a:avLst/>
          </a:prstGeom>
          <a:noFill/>
        </p:spPr>
        <p:txBody>
          <a:bodyPr wrap="square">
            <a:spAutoFit/>
          </a:bodyPr>
          <a:lstStyle/>
          <a:p>
            <a:pPr algn="l"/>
            <a:r>
              <a:rPr sz="2800" b="1" i="0">
                <a:solidFill>
                  <a:srgbClr val="000000"/>
                </a:solidFill>
              </a:rPr>
              <a:t>CONCLUSIONS</a:t>
            </a:r>
          </a:p>
        </p:txBody>
      </p:sp>
      <p:sp>
        <p:nvSpPr>
          <p:cNvPr id="6" name="Rectangle 5"/>
          <p:cNvSpPr/>
          <p:nvPr/>
        </p:nvSpPr>
        <p:spPr>
          <a:xfrm>
            <a:off x="274320" y="1115568"/>
            <a:ext cx="11612880" cy="36576"/>
          </a:xfrm>
          <a:prstGeom prst="rect">
            <a:avLst/>
          </a:prstGeom>
          <a:solidFill>
            <a:srgbClr val="0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56248"/>
            <a:ext cx="2743200" cy="274320"/>
          </a:xfrm>
          <a:prstGeom prst="rect">
            <a:avLst/>
          </a:prstGeom>
          <a:noFill/>
        </p:spPr>
        <p:txBody>
          <a:bodyPr wrap="square">
            <a:spAutoFit/>
          </a:bodyPr>
          <a:lstStyle/>
          <a:p>
            <a:pPr algn="l"/>
            <a:r>
              <a:rPr sz="1100" b="1" i="0">
                <a:solidFill>
                  <a:srgbClr val="007070"/>
                </a:solidFill>
              </a:rPr>
              <a:t>IIT ROORKEE</a:t>
            </a:r>
          </a:p>
        </p:txBody>
      </p:sp>
      <p:sp>
        <p:nvSpPr>
          <p:cNvPr id="9" name="TextBox 8"/>
          <p:cNvSpPr txBox="1"/>
          <p:nvPr/>
        </p:nvSpPr>
        <p:spPr>
          <a:xfrm>
            <a:off x="11640312" y="6556248"/>
            <a:ext cx="457200" cy="274320"/>
          </a:xfrm>
          <a:prstGeom prst="rect">
            <a:avLst/>
          </a:prstGeom>
          <a:noFill/>
        </p:spPr>
        <p:txBody>
          <a:bodyPr wrap="square">
            <a:spAutoFit/>
          </a:bodyPr>
          <a:lstStyle/>
          <a:p>
            <a:pPr algn="r"/>
            <a:r>
              <a:rPr sz="1100" b="1" i="0">
                <a:solidFill>
                  <a:srgbClr val="007070"/>
                </a:solidFill>
              </a:rPr>
              <a:t>9</a:t>
            </a:r>
          </a:p>
        </p:txBody>
      </p:sp>
      <p:sp>
        <p:nvSpPr>
          <p:cNvPr id="10" name="Rectangle 9"/>
          <p:cNvSpPr/>
          <p:nvPr/>
        </p:nvSpPr>
        <p:spPr>
          <a:xfrm>
            <a:off x="2834640" y="6611112"/>
            <a:ext cx="164592" cy="1645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35808" y="661111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6976" y="6611112"/>
            <a:ext cx="164592" cy="164592"/>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280160"/>
            <a:ext cx="11612880" cy="923544"/>
          </a:xfrm>
          <a:prstGeom prst="rect">
            <a:avLst/>
          </a:prstGeom>
          <a:solidFill>
            <a:srgbClr val="E8F5E9"/>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316736"/>
            <a:ext cx="11430000" cy="256032"/>
          </a:xfrm>
          <a:prstGeom prst="rect">
            <a:avLst/>
          </a:prstGeom>
          <a:noFill/>
        </p:spPr>
        <p:txBody>
          <a:bodyPr wrap="square">
            <a:spAutoFit/>
          </a:bodyPr>
          <a:lstStyle/>
          <a:p>
            <a:pPr algn="l"/>
            <a:r>
              <a:rPr sz="1100" b="1" i="0">
                <a:solidFill>
                  <a:srgbClr val="007070"/>
                </a:solidFill>
              </a:rPr>
              <a:t>C1  Physics-Aware AEB Outperforms Kinematic Models</a:t>
            </a:r>
          </a:p>
        </p:txBody>
      </p:sp>
      <p:sp>
        <p:nvSpPr>
          <p:cNvPr id="15" name="TextBox 14"/>
          <p:cNvSpPr txBox="1"/>
          <p:nvPr/>
        </p:nvSpPr>
        <p:spPr>
          <a:xfrm>
            <a:off x="365760" y="1554480"/>
            <a:ext cx="11430000" cy="594360"/>
          </a:xfrm>
          <a:prstGeom prst="rect">
            <a:avLst/>
          </a:prstGeom>
          <a:noFill/>
        </p:spPr>
        <p:txBody>
          <a:bodyPr wrap="square">
            <a:spAutoFit/>
          </a:bodyPr>
          <a:lstStyle/>
          <a:p>
            <a:pPr algn="l"/>
            <a:r>
              <a:rPr sz="1000" b="0" i="0">
                <a:solidFill>
                  <a:srgbClr val="000000"/>
                </a:solidFill>
              </a:rPr>
              <a:t>By replacing the simplistic d = v²/2a formula with a Pacejka tire model, ABS simulation, and brake thermodynamics, the system accurately predicts stopping distances to within ±5% of empirical references across all surface types.</a:t>
            </a:r>
          </a:p>
        </p:txBody>
      </p:sp>
      <p:sp>
        <p:nvSpPr>
          <p:cNvPr id="16" name="Rectangle 15"/>
          <p:cNvSpPr/>
          <p:nvPr/>
        </p:nvSpPr>
        <p:spPr>
          <a:xfrm>
            <a:off x="274320" y="2240280"/>
            <a:ext cx="11612880" cy="923544"/>
          </a:xfrm>
          <a:prstGeom prst="rect">
            <a:avLst/>
          </a:prstGeom>
          <a:solidFill>
            <a:srgbClr val="E3F2FD"/>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276856"/>
            <a:ext cx="11430000" cy="256032"/>
          </a:xfrm>
          <a:prstGeom prst="rect">
            <a:avLst/>
          </a:prstGeom>
          <a:noFill/>
        </p:spPr>
        <p:txBody>
          <a:bodyPr wrap="square">
            <a:spAutoFit/>
          </a:bodyPr>
          <a:lstStyle/>
          <a:p>
            <a:pPr algn="l"/>
            <a:r>
              <a:rPr sz="1100" b="1" i="0">
                <a:solidFill>
                  <a:srgbClr val="007070"/>
                </a:solidFill>
              </a:rPr>
              <a:t>C2  Adaptive Threshold Prevents Both False Brakes &amp; Missed Collisions</a:t>
            </a:r>
          </a:p>
        </p:txBody>
      </p:sp>
      <p:sp>
        <p:nvSpPr>
          <p:cNvPr id="18" name="TextBox 17"/>
          <p:cNvSpPr txBox="1"/>
          <p:nvPr/>
        </p:nvSpPr>
        <p:spPr>
          <a:xfrm>
            <a:off x="365760" y="2514600"/>
            <a:ext cx="11430000" cy="594360"/>
          </a:xfrm>
          <a:prstGeom prst="rect">
            <a:avLst/>
          </a:prstGeom>
          <a:noFill/>
        </p:spPr>
        <p:txBody>
          <a:bodyPr wrap="square">
            <a:spAutoFit/>
          </a:bodyPr>
          <a:lstStyle/>
          <a:p>
            <a:pPr algn="l"/>
            <a:r>
              <a:rPr sz="1000" b="0" i="0">
                <a:solidFill>
                  <a:srgbClr val="000000"/>
                </a:solidFill>
              </a:rPr>
              <a:t>The composite TTC threshold (base 1.5 s + weather + driver + thermal penalties) dynamically adapts to real-world hazards. In fog with a drowsy driver and faded brakes, the threshold rises to ~3.5 s — 133% higher than baseline — substantially reducing collision risk.</a:t>
            </a:r>
          </a:p>
        </p:txBody>
      </p:sp>
      <p:sp>
        <p:nvSpPr>
          <p:cNvPr id="19" name="Rectangle 18"/>
          <p:cNvSpPr/>
          <p:nvPr/>
        </p:nvSpPr>
        <p:spPr>
          <a:xfrm>
            <a:off x="274320" y="3200400"/>
            <a:ext cx="11612880" cy="923544"/>
          </a:xfrm>
          <a:prstGeom prst="rect">
            <a:avLst/>
          </a:prstGeom>
          <a:solidFill>
            <a:srgbClr val="E8F5E9"/>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236976"/>
            <a:ext cx="11430000" cy="256032"/>
          </a:xfrm>
          <a:prstGeom prst="rect">
            <a:avLst/>
          </a:prstGeom>
          <a:noFill/>
        </p:spPr>
        <p:txBody>
          <a:bodyPr wrap="square">
            <a:spAutoFit/>
          </a:bodyPr>
          <a:lstStyle/>
          <a:p>
            <a:pPr algn="l"/>
            <a:r>
              <a:rPr sz="1100" b="1" i="0">
                <a:solidFill>
                  <a:srgbClr val="007070"/>
                </a:solidFill>
              </a:rPr>
              <a:t>C3  Euro NCAP Compliance Demonstrated Across 3 of 4 Scenarios</a:t>
            </a:r>
          </a:p>
        </p:txBody>
      </p:sp>
      <p:sp>
        <p:nvSpPr>
          <p:cNvPr id="21" name="TextBox 20"/>
          <p:cNvSpPr txBox="1"/>
          <p:nvPr/>
        </p:nvSpPr>
        <p:spPr>
          <a:xfrm>
            <a:off x="365760" y="3474720"/>
            <a:ext cx="11430000" cy="594360"/>
          </a:xfrm>
          <a:prstGeom prst="rect">
            <a:avLst/>
          </a:prstGeom>
          <a:noFill/>
        </p:spPr>
        <p:txBody>
          <a:bodyPr wrap="square">
            <a:spAutoFit/>
          </a:bodyPr>
          <a:lstStyle/>
          <a:p>
            <a:pPr algn="l"/>
            <a:r>
              <a:rPr sz="1000" b="0" i="0">
                <a:solidFill>
                  <a:srgbClr val="000000"/>
                </a:solidFill>
              </a:rPr>
              <a:t>The system achieves PASS at 20–40 km/h across all four NCAP scenarios. The hardest scenario (CPNC — child from behind parked car, 20 m detection range) fails above 40 km/h, consistent with published limitations of monocular-camera AEB systems.</a:t>
            </a:r>
          </a:p>
        </p:txBody>
      </p:sp>
      <p:sp>
        <p:nvSpPr>
          <p:cNvPr id="22" name="Rectangle 21"/>
          <p:cNvSpPr/>
          <p:nvPr/>
        </p:nvSpPr>
        <p:spPr>
          <a:xfrm>
            <a:off x="274320" y="4160520"/>
            <a:ext cx="11612880" cy="923544"/>
          </a:xfrm>
          <a:prstGeom prst="rect">
            <a:avLst/>
          </a:prstGeom>
          <a:solidFill>
            <a:srgbClr val="E3F2FD"/>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197096"/>
            <a:ext cx="11430000" cy="256032"/>
          </a:xfrm>
          <a:prstGeom prst="rect">
            <a:avLst/>
          </a:prstGeom>
          <a:noFill/>
        </p:spPr>
        <p:txBody>
          <a:bodyPr wrap="square">
            <a:spAutoFit/>
          </a:bodyPr>
          <a:lstStyle/>
          <a:p>
            <a:pPr algn="l"/>
            <a:r>
              <a:rPr sz="1100" b="1" i="0">
                <a:solidFill>
                  <a:srgbClr val="007070"/>
                </a:solidFill>
              </a:rPr>
              <a:t>C4  Biomechanical Analysis Links Engineering to Human Safety</a:t>
            </a:r>
          </a:p>
        </p:txBody>
      </p:sp>
      <p:sp>
        <p:nvSpPr>
          <p:cNvPr id="24" name="TextBox 23"/>
          <p:cNvSpPr txBox="1"/>
          <p:nvPr/>
        </p:nvSpPr>
        <p:spPr>
          <a:xfrm>
            <a:off x="365760" y="4434840"/>
            <a:ext cx="11430000" cy="594360"/>
          </a:xfrm>
          <a:prstGeom prst="rect">
            <a:avLst/>
          </a:prstGeom>
          <a:noFill/>
        </p:spPr>
        <p:txBody>
          <a:bodyPr wrap="square">
            <a:spAutoFit/>
          </a:bodyPr>
          <a:lstStyle/>
          <a:p>
            <a:pPr algn="l"/>
            <a:r>
              <a:rPr sz="1000" b="0" i="0">
                <a:solidFill>
                  <a:srgbClr val="000000"/>
                </a:solidFill>
              </a:rPr>
              <a:t>The HIC model shows that reducing impact speed from 50 km/h to 30 km/h lowers injury classification from Critical (HIC &gt; 2500) to Serious (HIC ~ 500) — a 5× reduction validating AEB's life-saving potential even in partial-stop scenarios.</a:t>
            </a:r>
          </a:p>
        </p:txBody>
      </p:sp>
      <p:sp>
        <p:nvSpPr>
          <p:cNvPr id="25" name="Rectangle 24"/>
          <p:cNvSpPr/>
          <p:nvPr/>
        </p:nvSpPr>
        <p:spPr>
          <a:xfrm>
            <a:off x="274320" y="5120640"/>
            <a:ext cx="11612880" cy="923544"/>
          </a:xfrm>
          <a:prstGeom prst="rect">
            <a:avLst/>
          </a:prstGeom>
          <a:solidFill>
            <a:srgbClr val="E8F5E9"/>
          </a:solidFill>
          <a:ln>
            <a:solidFill>
              <a:srgbClr val="00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5157216"/>
            <a:ext cx="11430000" cy="256032"/>
          </a:xfrm>
          <a:prstGeom prst="rect">
            <a:avLst/>
          </a:prstGeom>
          <a:noFill/>
        </p:spPr>
        <p:txBody>
          <a:bodyPr wrap="square">
            <a:spAutoFit/>
          </a:bodyPr>
          <a:lstStyle/>
          <a:p>
            <a:pPr algn="l"/>
            <a:r>
              <a:rPr sz="1100" b="1" i="0">
                <a:solidFill>
                  <a:srgbClr val="007070"/>
                </a:solidFill>
              </a:rPr>
              <a:t>C5  Modular Architecture Enables Production Scalability</a:t>
            </a:r>
          </a:p>
        </p:txBody>
      </p:sp>
      <p:sp>
        <p:nvSpPr>
          <p:cNvPr id="27" name="TextBox 26"/>
          <p:cNvSpPr txBox="1"/>
          <p:nvPr/>
        </p:nvSpPr>
        <p:spPr>
          <a:xfrm>
            <a:off x="365760" y="5394960"/>
            <a:ext cx="11430000" cy="594360"/>
          </a:xfrm>
          <a:prstGeom prst="rect">
            <a:avLst/>
          </a:prstGeom>
          <a:noFill/>
        </p:spPr>
        <p:txBody>
          <a:bodyPr wrap="square">
            <a:spAutoFit/>
          </a:bodyPr>
          <a:lstStyle/>
          <a:p>
            <a:pPr algn="l"/>
            <a:r>
              <a:rPr sz="1000" b="0" i="0">
                <a:solidFill>
                  <a:srgbClr val="000000"/>
                </a:solidFill>
              </a:rPr>
              <a:t>The 14-step pipeline processes each frame independently with clean module boundaries. Adding LiDAR fusion, V2X communication, or stereo depth would require changes only to the depth and distance modules, leaving AEB decision logic intact.</a:t>
            </a:r>
          </a:p>
        </p:txBody>
      </p:sp>
      <p:sp>
        <p:nvSpPr>
          <p:cNvPr id="28" name="Rectangle 27"/>
          <p:cNvSpPr/>
          <p:nvPr/>
        </p:nvSpPr>
        <p:spPr>
          <a:xfrm>
            <a:off x="274320" y="6126480"/>
            <a:ext cx="11612880" cy="320040"/>
          </a:xfrm>
          <a:prstGeom prst="rect">
            <a:avLst/>
          </a:prstGeom>
          <a:solidFill>
            <a:srgbClr val="0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144768"/>
            <a:ext cx="11430000" cy="274320"/>
          </a:xfrm>
          <a:prstGeom prst="rect">
            <a:avLst/>
          </a:prstGeom>
          <a:noFill/>
        </p:spPr>
        <p:txBody>
          <a:bodyPr wrap="square">
            <a:spAutoFit/>
          </a:bodyPr>
          <a:lstStyle/>
          <a:p>
            <a:pPr algn="l"/>
            <a:r>
              <a:rPr sz="950" b="0" i="1">
                <a:solidFill>
                  <a:srgbClr val="FFFFFF"/>
                </a:solidFill>
              </a:rPr>
              <a:t>Future Work:  LiDAR sensor fusion  ·  Vehicle-to-Everything (V2X) communication  ·  CARLA closed-loop simulation validation  ·  Deployment on NVIDIA Jetson edge hardware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